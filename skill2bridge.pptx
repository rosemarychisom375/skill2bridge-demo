
<file path=[Content_Types].xml><?xml version="1.0" encoding="utf-8"?>
<Types xmlns="http://schemas.openxmlformats.org/package/2006/content-types"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Default Extension="png" ContentType="image/png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Default Extension="svg" ContentType="image/svg+xml"/>
  <Override PartName="/ppt/slideMasters/slideMaster1.xml" ContentType="application/vnd.openxmlformats-officedocument.presentationml.slideMaster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theme/theme2.xml" ContentType="application/vnd.openxmlformats-officedocument.theme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heme/theme1.xml" ContentType="application/vnd.openxmlformats-officedocument.theme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Default Extension="fntdata" ContentType="application/x-fontdata"/>
  <Override PartName="/ppt/slideLayouts/slideLayout1.xml" ContentType="application/vnd.openxmlformats-officedocument.presentationml.slideLayout+xml"/>
  <Override PartName="/docProps/app.xml" ContentType="application/vnd.openxmlformats-officedocument.extended-properties+xml"/>
  <Override PartName="/ppt/tableStyles.xml" ContentType="application/vnd.openxmlformats-officedocument.presentationml.tableStyles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docProps/custom.xml" ContentType="application/vnd.openxmlformats-officedocument.custom-properties+xml"/>
  <Override PartName="/ppt/slideLayouts/slideLayout10.xml" ContentType="application/vnd.openxmlformats-officedocument.presentationml.slideLayout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viewProps.xml" ContentType="application/vnd.openxmlformats-officedocument.presentationml.viewProps+xml"/>
  <Override PartName="/ppt/slideLayouts/slideLayout9.xml" ContentType="application/vnd.openxmlformats-officedocument.presentationml.slideLayout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48" r:id="rId1"/>
  </p:sldMasterIdLst>
  <p:notesMasterIdLst>
    <p:notesMasterId r:id="rId10"/>
  </p:notesMasterIdLst>
  <p:sldIdLst>
    <p:sldId id="256" r:id="rId2"/>
    <p:sldId id="266" r:id="rId3"/>
    <p:sldId id="267" r:id="rId4"/>
    <p:sldId id="268" r:id="rId5"/>
    <p:sldId id="269" r:id="rId6"/>
    <p:sldId id="270" r:id="rId7"/>
    <p:sldId id="271" r:id="rId8"/>
    <p:sldId id="272" r:id="rId9"/>
  </p:sldIdLst>
  <p:sldSz cx="18288000" cy="10287000"/>
  <p:notesSz cx="6858000" cy="9144000"/>
  <p:embeddedFontLst>
    <p:embeddedFont>
      <p:font typeface="Calibri" pitchFamily="34" charset="0"/>
      <p:regular r:id="rId11"/>
      <p:bold r:id="rId12"/>
      <p:italic r:id="rId13"/>
      <p:boldItalic r:id="rId14"/>
    </p:embeddedFont>
    <p:embeddedFont>
      <p:font typeface="Arial Black" pitchFamily="34" charset="0"/>
      <p:bold r:id="rId15"/>
    </p:embeddedFont>
    <p:embeddedFont>
      <p:font typeface="Montserrat Light" charset="0"/>
      <p:regular r:id="rId16"/>
      <p:italic r:id="rId17"/>
    </p:embeddedFont>
    <p:embeddedFont>
      <p:font typeface="Maven Pro Bold" charset="0"/>
      <p:bold r:id="rId18"/>
    </p:embeddedFont>
    <p:embeddedFont>
      <p:font typeface="Open Sauce" charset="0"/>
      <p:regular r:id="rId19"/>
    </p:embeddedFont>
    <p:embeddedFont>
      <p:font typeface="Arial Rounded MT Bold" pitchFamily="34" charset="0"/>
      <p:regular r:id="rId20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 xmlns="">
        <p15:guide id="1" orient="horz" pos="216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xmlns="" val="0"/>
    </p:ext>
    <p:ext uri="{D31A062A-798A-4329-ABDD-BBA856620510}">
      <p14:defaultImageDpi xmlns:p14="http://schemas.microsoft.com/office/powerpoint/2010/main" xmlns="" val="220"/>
    </p:ext>
    <p:ext uri="{FD5EFAAD-0ECE-453E-9831-46B23BE46B34}">
      <p15:chartTrackingRefBased xmlns:p15="http://schemas.microsoft.com/office/powerpoint/2012/main" xmlns="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047" autoAdjust="0"/>
    <p:restoredTop sz="94622" autoAdjust="0"/>
  </p:normalViewPr>
  <p:slideViewPr>
    <p:cSldViewPr>
      <p:cViewPr varScale="1">
        <p:scale>
          <a:sx n="38" d="100"/>
          <a:sy n="38" d="100"/>
        </p:scale>
        <p:origin x="-1086" y="-126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8028800" cy="780288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font" Target="fonts/font3.fntdata"/><Relationship Id="rId18" Type="http://schemas.openxmlformats.org/officeDocument/2006/relationships/font" Target="fonts/font8.fntdata"/><Relationship Id="rId3" Type="http://schemas.openxmlformats.org/officeDocument/2006/relationships/slide" Target="slides/slide2.xml"/><Relationship Id="rId21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font" Target="fonts/font2.fntdata"/><Relationship Id="rId17" Type="http://schemas.openxmlformats.org/officeDocument/2006/relationships/font" Target="fonts/font7.fntdata"/><Relationship Id="rId2" Type="http://schemas.openxmlformats.org/officeDocument/2006/relationships/slide" Target="slides/slide1.xml"/><Relationship Id="rId16" Type="http://schemas.openxmlformats.org/officeDocument/2006/relationships/font" Target="fonts/font6.fntdata"/><Relationship Id="rId20" Type="http://schemas.openxmlformats.org/officeDocument/2006/relationships/font" Target="fonts/font10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font" Target="fonts/font1.fntdata"/><Relationship Id="rId24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font" Target="fonts/font5.fntdata"/><Relationship Id="rId23" Type="http://schemas.openxmlformats.org/officeDocument/2006/relationships/theme" Target="theme/theme1.xml"/><Relationship Id="rId10" Type="http://schemas.openxmlformats.org/officeDocument/2006/relationships/notesMaster" Target="notesMasters/notesMaster1.xml"/><Relationship Id="rId19" Type="http://schemas.openxmlformats.org/officeDocument/2006/relationships/font" Target="fonts/font9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font" Target="fonts/font4.fntdata"/><Relationship Id="rId22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9DD7EDA-615F-41FC-BDF1-7928284B691F}" type="datetimeFigureOut">
              <a:rPr lang="en-US" smtClean="0"/>
              <a:pPr/>
              <a:t>10/6/2026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749E86B-2D32-48E2-9BBB-F8FE35F3770C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pPr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xmlns="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pPr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xmlns="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pPr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xmlns="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pPr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xmlns="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pPr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xmlns="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pPr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xmlns="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pPr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xmlns="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10/6/2026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10/6/2026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10/6/2026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CONTENT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8288000" cy="1737360"/>
          </a:xfrm>
          <a:prstGeom prst="rect">
            <a:avLst/>
          </a:prstGeom>
          <a:solidFill>
            <a:schemeClr val="tx2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737360"/>
            <a:ext cx="18288000" cy="109728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4" name="Text 2"/>
          <p:cNvSpPr/>
          <p:nvPr/>
        </p:nvSpPr>
        <p:spPr>
          <a:xfrm>
            <a:off x="914400" y="9656064"/>
            <a:ext cx="1280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chemeClr val="accent6"/>
                </a:solidFill>
              </a:rPr>
              <a:t>Skill2Bridge  |  BPIN SE0155  |  Digital Inclusion &amp; Employability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6642080" y="9656064"/>
            <a:ext cx="731520" cy="4572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800">
                <a:solidFill>
                  <a:schemeClr val="accent6"/>
                </a:solidFill>
              </a:defRPr>
            </a:lvl1pPr>
          </a:lstStyle>
          <a:p>
            <a:pPr algn="l"/>
            <a:fld id="{F7021451-1387-4CA6-816F-3879F97B5CBC}" type="slidenum">
              <a:rPr lang="en-US" b="0"/>
              <a:pPr algn="l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10/6/2026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3.png"/><Relationship Id="rId3" Type="http://schemas.openxmlformats.org/officeDocument/2006/relationships/image" Target="../media/image2.png"/><Relationship Id="rId7" Type="http://schemas.openxmlformats.org/officeDocument/2006/relationships/image" Target="../media/image6.sv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11" Type="http://schemas.openxmlformats.org/officeDocument/2006/relationships/image" Target="../media/image6.jpeg"/><Relationship Id="rId10" Type="http://schemas.openxmlformats.org/officeDocument/2006/relationships/image" Target="../media/image5.png"/><Relationship Id="rId9" Type="http://schemas.openxmlformats.org/officeDocument/2006/relationships/image" Target="../media/image4.pn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2.xml"/><Relationship Id="rId5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9431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 cstate="print"/>
            <a:stretch>
              <a:fillRect t="-38888" b="-38888"/>
            </a:stretch>
          </a:blipFill>
        </p:spPr>
        <p:txBody>
          <a:bodyPr/>
          <a:lstStyle/>
          <a:p>
            <a:endParaRPr lang="en-US"/>
          </a:p>
        </p:txBody>
      </p:sp>
      <p:grpSp>
        <p:nvGrpSpPr>
          <p:cNvPr id="6" name="Group 6"/>
          <p:cNvGrpSpPr/>
          <p:nvPr/>
        </p:nvGrpSpPr>
        <p:grpSpPr>
          <a:xfrm>
            <a:off x="367087" y="1790700"/>
            <a:ext cx="12739313" cy="8253588"/>
            <a:chOff x="0" y="0"/>
            <a:chExt cx="3010695" cy="2085801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3010695" cy="2085801"/>
            </a:xfrm>
            <a:custGeom>
              <a:avLst/>
              <a:gdLst/>
              <a:ahLst/>
              <a:cxnLst/>
              <a:rect l="l" t="t" r="r" b="b"/>
              <a:pathLst>
                <a:path w="3010695" h="2085801">
                  <a:moveTo>
                    <a:pt x="64340" y="0"/>
                  </a:moveTo>
                  <a:lnTo>
                    <a:pt x="2946355" y="0"/>
                  </a:lnTo>
                  <a:cubicBezTo>
                    <a:pt x="2981889" y="0"/>
                    <a:pt x="3010695" y="28806"/>
                    <a:pt x="3010695" y="64340"/>
                  </a:cubicBezTo>
                  <a:lnTo>
                    <a:pt x="3010695" y="2021461"/>
                  </a:lnTo>
                  <a:cubicBezTo>
                    <a:pt x="3010695" y="2056995"/>
                    <a:pt x="2981889" y="2085801"/>
                    <a:pt x="2946355" y="2085801"/>
                  </a:cubicBezTo>
                  <a:lnTo>
                    <a:pt x="64340" y="2085801"/>
                  </a:lnTo>
                  <a:cubicBezTo>
                    <a:pt x="28806" y="2085801"/>
                    <a:pt x="0" y="2056995"/>
                    <a:pt x="0" y="2021461"/>
                  </a:cubicBezTo>
                  <a:lnTo>
                    <a:pt x="0" y="64340"/>
                  </a:lnTo>
                  <a:cubicBezTo>
                    <a:pt x="0" y="28806"/>
                    <a:pt x="28806" y="0"/>
                    <a:pt x="64340" y="0"/>
                  </a:cubicBezTo>
                  <a:close/>
                </a:path>
              </a:pathLst>
            </a:custGeom>
            <a:solidFill>
              <a:srgbClr val="FFFFFF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8" name="TextBox 8"/>
            <p:cNvSpPr txBox="1"/>
            <p:nvPr/>
          </p:nvSpPr>
          <p:spPr>
            <a:xfrm>
              <a:off x="0" y="-38100"/>
              <a:ext cx="3010695" cy="2123901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940"/>
                </a:lnSpc>
              </a:pPr>
              <a:endParaRPr/>
            </a:p>
          </p:txBody>
        </p:sp>
      </p:grpSp>
      <p:sp>
        <p:nvSpPr>
          <p:cNvPr id="9" name="Freeform 9"/>
          <p:cNvSpPr/>
          <p:nvPr/>
        </p:nvSpPr>
        <p:spPr>
          <a:xfrm>
            <a:off x="9958206" y="4895296"/>
            <a:ext cx="4901235" cy="1648040"/>
          </a:xfrm>
          <a:custGeom>
            <a:avLst/>
            <a:gdLst/>
            <a:ahLst/>
            <a:cxnLst/>
            <a:rect l="l" t="t" r="r" b="b"/>
            <a:pathLst>
              <a:path w="4901235" h="1648040">
                <a:moveTo>
                  <a:pt x="0" y="0"/>
                </a:moveTo>
                <a:lnTo>
                  <a:pt x="4901235" y="0"/>
                </a:lnTo>
                <a:lnTo>
                  <a:pt x="4901235" y="1648041"/>
                </a:lnTo>
                <a:lnTo>
                  <a:pt x="0" y="1648041"/>
                </a:lnTo>
                <a:lnTo>
                  <a:pt x="0" y="0"/>
                </a:lnTo>
                <a:close/>
              </a:path>
            </a:pathLst>
          </a:custGeom>
          <a:blipFill>
            <a:blip r:embed="rId3" cstate="print">
              <a:alphaModFix amt="53000"/>
              <a:extLst>
                <a:ext uri="{96DAC541-7B7A-43D3-8B79-37D633B846F1}">
                  <asvg:svgBlip xmlns:asvg="http://schemas.microsoft.com/office/drawing/2016/SVG/main" xmlns="" r:embed="rId7"/>
                </a:ext>
              </a:extLst>
            </a:blip>
            <a:stretch>
              <a:fillRect/>
            </a:stretch>
          </a:blipFill>
          <a:ln cap="sq">
            <a:noFill/>
            <a:prstDash val="solid"/>
            <a:miter/>
          </a:ln>
        </p:spPr>
        <p:txBody>
          <a:bodyPr/>
          <a:lstStyle/>
          <a:p>
            <a:endParaRPr lang="en-US"/>
          </a:p>
        </p:txBody>
      </p:sp>
      <p:sp>
        <p:nvSpPr>
          <p:cNvPr id="10" name="Freeform 10"/>
          <p:cNvSpPr/>
          <p:nvPr/>
        </p:nvSpPr>
        <p:spPr>
          <a:xfrm>
            <a:off x="1038225" y="9700622"/>
            <a:ext cx="8858196" cy="1439457"/>
          </a:xfrm>
          <a:custGeom>
            <a:avLst/>
            <a:gdLst/>
            <a:ahLst/>
            <a:cxnLst/>
            <a:rect l="l" t="t" r="r" b="b"/>
            <a:pathLst>
              <a:path w="8858196" h="1439457">
                <a:moveTo>
                  <a:pt x="0" y="0"/>
                </a:moveTo>
                <a:lnTo>
                  <a:pt x="8858196" y="0"/>
                </a:lnTo>
                <a:lnTo>
                  <a:pt x="8858196" y="1439456"/>
                </a:lnTo>
                <a:lnTo>
                  <a:pt x="0" y="1439456"/>
                </a:lnTo>
                <a:lnTo>
                  <a:pt x="0" y="0"/>
                </a:lnTo>
                <a:close/>
              </a:path>
            </a:pathLst>
          </a:custGeom>
          <a:blipFill>
            <a:blip r:embed="rId8" cstate="print"/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grpSp>
        <p:nvGrpSpPr>
          <p:cNvPr id="17" name="Group 17"/>
          <p:cNvGrpSpPr/>
          <p:nvPr/>
        </p:nvGrpSpPr>
        <p:grpSpPr>
          <a:xfrm>
            <a:off x="13182600" y="1028700"/>
            <a:ext cx="4794499" cy="4794499"/>
            <a:chOff x="0" y="0"/>
            <a:chExt cx="812800" cy="812800"/>
          </a:xfrm>
        </p:grpSpPr>
        <p:sp>
          <p:nvSpPr>
            <p:cNvPr id="18" name="Freeform 18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7C03F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76200" y="114300"/>
              <a:ext cx="660400" cy="6223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360"/>
                </a:lnSpc>
              </a:pPr>
              <a:endParaRPr/>
            </a:p>
          </p:txBody>
        </p:sp>
      </p:grpSp>
      <p:sp>
        <p:nvSpPr>
          <p:cNvPr id="25" name="Freeform 25"/>
          <p:cNvSpPr/>
          <p:nvPr/>
        </p:nvSpPr>
        <p:spPr>
          <a:xfrm flipH="1">
            <a:off x="13335000" y="342900"/>
            <a:ext cx="1715877" cy="2250331"/>
          </a:xfrm>
          <a:custGeom>
            <a:avLst/>
            <a:gdLst/>
            <a:ahLst/>
            <a:cxnLst/>
            <a:rect l="l" t="t" r="r" b="b"/>
            <a:pathLst>
              <a:path w="1715877" h="2250331">
                <a:moveTo>
                  <a:pt x="1715877" y="0"/>
                </a:moveTo>
                <a:lnTo>
                  <a:pt x="0" y="0"/>
                </a:lnTo>
                <a:lnTo>
                  <a:pt x="0" y="2250331"/>
                </a:lnTo>
                <a:lnTo>
                  <a:pt x="1715877" y="2250331"/>
                </a:lnTo>
                <a:lnTo>
                  <a:pt x="1715877" y="0"/>
                </a:lnTo>
                <a:close/>
              </a:path>
            </a:pathLst>
          </a:custGeom>
          <a:blipFill>
            <a:blip r:embed="rId9" cstate="print"/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grpSp>
        <p:nvGrpSpPr>
          <p:cNvPr id="26" name="Group 26"/>
          <p:cNvGrpSpPr/>
          <p:nvPr/>
        </p:nvGrpSpPr>
        <p:grpSpPr>
          <a:xfrm>
            <a:off x="1243528" y="2349808"/>
            <a:ext cx="8667602" cy="632683"/>
            <a:chOff x="0" y="0"/>
            <a:chExt cx="2109994" cy="154017"/>
          </a:xfrm>
          <a:solidFill>
            <a:schemeClr val="accent3">
              <a:lumMod val="50000"/>
            </a:schemeClr>
          </a:solidFill>
        </p:grpSpPr>
        <p:sp>
          <p:nvSpPr>
            <p:cNvPr id="27" name="Freeform 27"/>
            <p:cNvSpPr/>
            <p:nvPr/>
          </p:nvSpPr>
          <p:spPr>
            <a:xfrm>
              <a:off x="0" y="0"/>
              <a:ext cx="2109994" cy="154017"/>
            </a:xfrm>
            <a:custGeom>
              <a:avLst/>
              <a:gdLst/>
              <a:ahLst/>
              <a:cxnLst/>
              <a:rect l="l" t="t" r="r" b="b"/>
              <a:pathLst>
                <a:path w="2109994" h="154017">
                  <a:moveTo>
                    <a:pt x="16078" y="0"/>
                  </a:moveTo>
                  <a:lnTo>
                    <a:pt x="2093916" y="0"/>
                  </a:lnTo>
                  <a:cubicBezTo>
                    <a:pt x="2102795" y="0"/>
                    <a:pt x="2109994" y="7198"/>
                    <a:pt x="2109994" y="16078"/>
                  </a:cubicBezTo>
                  <a:lnTo>
                    <a:pt x="2109994" y="137939"/>
                  </a:lnTo>
                  <a:cubicBezTo>
                    <a:pt x="2109994" y="146819"/>
                    <a:pt x="2102795" y="154017"/>
                    <a:pt x="2093916" y="154017"/>
                  </a:cubicBezTo>
                  <a:lnTo>
                    <a:pt x="16078" y="154017"/>
                  </a:lnTo>
                  <a:cubicBezTo>
                    <a:pt x="7198" y="154017"/>
                    <a:pt x="0" y="146819"/>
                    <a:pt x="0" y="137939"/>
                  </a:cubicBezTo>
                  <a:lnTo>
                    <a:pt x="0" y="16078"/>
                  </a:lnTo>
                  <a:cubicBezTo>
                    <a:pt x="0" y="7198"/>
                    <a:pt x="7198" y="0"/>
                    <a:pt x="16078" y="0"/>
                  </a:cubicBezTo>
                  <a:close/>
                </a:path>
              </a:pathLst>
            </a:custGeom>
            <a:grpFill/>
          </p:spPr>
          <p:txBody>
            <a:bodyPr/>
            <a:lstStyle/>
            <a:p>
              <a:endParaRPr lang="x-none" dirty="0"/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0" y="-28575"/>
              <a:ext cx="2109994" cy="182592"/>
            </a:xfrm>
            <a:prstGeom prst="rect">
              <a:avLst/>
            </a:prstGeom>
            <a:grpFill/>
          </p:spPr>
          <p:txBody>
            <a:bodyPr lIns="56055" tIns="56055" rIns="56055" bIns="56055" rtlCol="0" anchor="ctr"/>
            <a:lstStyle/>
            <a:p>
              <a:pPr algn="ctr">
                <a:lnSpc>
                  <a:spcPts val="4550"/>
                </a:lnSpc>
              </a:pPr>
              <a:r>
                <a:rPr lang="en-US" sz="2800" b="1" dirty="0">
                  <a:solidFill>
                    <a:srgbClr val="FFFFFF"/>
                  </a:solidFill>
                  <a:latin typeface="Arial Black" panose="020B0A04020102020204" pitchFamily="34" charset="0"/>
                  <a:ea typeface="Montserrat Light Bold" panose="00000800000000000000"/>
                  <a:cs typeface="Montserrat Light Bold" panose="00000800000000000000"/>
                  <a:sym typeface="Montserrat Light Bold" panose="00000800000000000000"/>
                </a:rPr>
                <a:t>BUSINESS </a:t>
              </a:r>
              <a:r>
                <a:rPr lang="en-US" sz="2800" b="1" dirty="0" smtClean="0">
                  <a:solidFill>
                    <a:srgbClr val="FFFFFF"/>
                  </a:solidFill>
                  <a:latin typeface="Arial Black" panose="020B0A04020102020204" pitchFamily="34" charset="0"/>
                  <a:ea typeface="Montserrat Light Bold" panose="00000800000000000000"/>
                  <a:cs typeface="Montserrat Light Bold" panose="00000800000000000000"/>
                  <a:sym typeface="Montserrat Light Bold" panose="00000800000000000000"/>
                </a:rPr>
                <a:t>NAME: Skill2Bridge</a:t>
              </a:r>
              <a:endParaRPr lang="en-US" sz="2800" b="1" dirty="0">
                <a:solidFill>
                  <a:srgbClr val="FFFFFF"/>
                </a:solidFill>
                <a:latin typeface="Arial Black" panose="020B0A04020102020204" pitchFamily="34" charset="0"/>
                <a:ea typeface="Montserrat Light Bold" panose="00000800000000000000"/>
                <a:cs typeface="Montserrat Light Bold" panose="00000800000000000000"/>
                <a:sym typeface="Montserrat Light Bold" panose="00000800000000000000"/>
              </a:endParaRPr>
            </a:p>
          </p:txBody>
        </p:sp>
      </p:grpSp>
      <p:grpSp>
        <p:nvGrpSpPr>
          <p:cNvPr id="29" name="Group 29"/>
          <p:cNvGrpSpPr/>
          <p:nvPr/>
        </p:nvGrpSpPr>
        <p:grpSpPr>
          <a:xfrm>
            <a:off x="1219200" y="5219700"/>
            <a:ext cx="3938072" cy="1219199"/>
            <a:chOff x="0" y="0"/>
            <a:chExt cx="825638" cy="135928"/>
          </a:xfrm>
          <a:solidFill>
            <a:schemeClr val="accent3">
              <a:lumMod val="50000"/>
            </a:schemeClr>
          </a:solidFill>
        </p:grpSpPr>
        <p:sp>
          <p:nvSpPr>
            <p:cNvPr id="30" name="Freeform 30"/>
            <p:cNvSpPr/>
            <p:nvPr/>
          </p:nvSpPr>
          <p:spPr>
            <a:xfrm>
              <a:off x="0" y="0"/>
              <a:ext cx="825638" cy="135928"/>
            </a:xfrm>
            <a:custGeom>
              <a:avLst/>
              <a:gdLst/>
              <a:ahLst/>
              <a:cxnLst/>
              <a:rect l="l" t="t" r="r" b="b"/>
              <a:pathLst>
                <a:path w="825638" h="135928">
                  <a:moveTo>
                    <a:pt x="40885" y="0"/>
                  </a:moveTo>
                  <a:lnTo>
                    <a:pt x="784752" y="0"/>
                  </a:lnTo>
                  <a:cubicBezTo>
                    <a:pt x="807333" y="0"/>
                    <a:pt x="825638" y="18305"/>
                    <a:pt x="825638" y="40885"/>
                  </a:cubicBezTo>
                  <a:lnTo>
                    <a:pt x="825638" y="95043"/>
                  </a:lnTo>
                  <a:cubicBezTo>
                    <a:pt x="825638" y="117623"/>
                    <a:pt x="807333" y="135928"/>
                    <a:pt x="784752" y="135928"/>
                  </a:cubicBezTo>
                  <a:lnTo>
                    <a:pt x="40885" y="135928"/>
                  </a:lnTo>
                  <a:cubicBezTo>
                    <a:pt x="18305" y="135928"/>
                    <a:pt x="0" y="117623"/>
                    <a:pt x="0" y="95043"/>
                  </a:cubicBezTo>
                  <a:lnTo>
                    <a:pt x="0" y="40885"/>
                  </a:lnTo>
                  <a:cubicBezTo>
                    <a:pt x="0" y="18305"/>
                    <a:pt x="18305" y="0"/>
                    <a:pt x="40885" y="0"/>
                  </a:cubicBezTo>
                  <a:close/>
                </a:path>
              </a:pathLst>
            </a:custGeom>
            <a:grpFill/>
          </p:spPr>
          <p:txBody>
            <a:bodyPr/>
            <a:lstStyle/>
            <a:p>
              <a:endParaRPr lang="en-US"/>
            </a:p>
          </p:txBody>
        </p:sp>
        <p:sp>
          <p:nvSpPr>
            <p:cNvPr id="31" name="TextBox 31"/>
            <p:cNvSpPr txBox="1"/>
            <p:nvPr/>
          </p:nvSpPr>
          <p:spPr>
            <a:xfrm>
              <a:off x="0" y="-19050"/>
              <a:ext cx="825638" cy="154978"/>
            </a:xfrm>
            <a:prstGeom prst="rect">
              <a:avLst/>
            </a:prstGeom>
            <a:grpFill/>
          </p:spPr>
          <p:txBody>
            <a:bodyPr lIns="56055" tIns="56055" rIns="56055" bIns="56055" rtlCol="0" anchor="ctr"/>
            <a:lstStyle/>
            <a:p>
              <a:pPr algn="ctr">
                <a:lnSpc>
                  <a:spcPts val="4550"/>
                </a:lnSpc>
              </a:pPr>
              <a:r>
                <a:rPr lang="en-US" sz="2000" b="1" dirty="0">
                  <a:solidFill>
                    <a:srgbClr val="FFFFFF"/>
                  </a:solidFill>
                  <a:latin typeface="Arial Black" panose="020B0A04020102020204" pitchFamily="34" charset="0"/>
                  <a:ea typeface="Montserrat Light Bold" panose="00000800000000000000"/>
                  <a:cs typeface="Montserrat Light Bold" panose="00000800000000000000"/>
                  <a:sym typeface="Montserrat Light Bold" panose="00000800000000000000"/>
                </a:rPr>
                <a:t>MATRIC </a:t>
              </a:r>
              <a:r>
                <a:rPr lang="en-US" sz="2000" b="1" dirty="0" smtClean="0">
                  <a:solidFill>
                    <a:srgbClr val="FFFFFF"/>
                  </a:solidFill>
                  <a:latin typeface="Arial Black" panose="020B0A04020102020204" pitchFamily="34" charset="0"/>
                  <a:ea typeface="Montserrat Light Bold" panose="00000800000000000000"/>
                  <a:cs typeface="Montserrat Light Bold" panose="00000800000000000000"/>
                  <a:sym typeface="Montserrat Light Bold" panose="00000800000000000000"/>
                </a:rPr>
                <a:t>NUMBER: NOU252748203</a:t>
              </a:r>
              <a:endParaRPr lang="en-US" sz="2000" b="1" dirty="0">
                <a:solidFill>
                  <a:srgbClr val="FFFFFF"/>
                </a:solidFill>
                <a:latin typeface="Arial Black" panose="020B0A04020102020204" pitchFamily="34" charset="0"/>
                <a:ea typeface="Montserrat Light Bold" panose="00000800000000000000"/>
                <a:cs typeface="Montserrat Light Bold" panose="00000800000000000000"/>
                <a:sym typeface="Montserrat Light Bold" panose="00000800000000000000"/>
              </a:endParaRPr>
            </a:p>
          </p:txBody>
        </p:sp>
      </p:grpSp>
      <p:sp>
        <p:nvSpPr>
          <p:cNvPr id="34" name="TextBox 34"/>
          <p:cNvSpPr txBox="1"/>
          <p:nvPr/>
        </p:nvSpPr>
        <p:spPr>
          <a:xfrm>
            <a:off x="6858000" y="3238500"/>
            <a:ext cx="4800600" cy="1524002"/>
          </a:xfrm>
          <a:prstGeom prst="rect">
            <a:avLst/>
          </a:prstGeom>
          <a:solidFill>
            <a:schemeClr val="accent3">
              <a:lumMod val="50000"/>
            </a:schemeClr>
          </a:solidFill>
        </p:spPr>
        <p:txBody>
          <a:bodyPr lIns="56055" tIns="56055" rIns="56055" bIns="56055" rtlCol="0" anchor="ctr"/>
          <a:lstStyle/>
          <a:p>
            <a:pPr algn="ctr">
              <a:lnSpc>
                <a:spcPts val="4550"/>
              </a:lnSpc>
            </a:pPr>
            <a:r>
              <a:rPr lang="en-US" sz="2000" b="1" dirty="0">
                <a:solidFill>
                  <a:srgbClr val="FFFFFF"/>
                </a:solidFill>
                <a:latin typeface="Arial Black" panose="020B0A04020102020204" pitchFamily="34" charset="0"/>
                <a:ea typeface="Montserrat Light Bold" panose="00000800000000000000"/>
                <a:cs typeface="Montserrat Light Bold" panose="00000800000000000000"/>
                <a:sym typeface="Montserrat Light Bold" panose="00000800000000000000"/>
              </a:rPr>
              <a:t>ACADEMIC </a:t>
            </a:r>
            <a:r>
              <a:rPr lang="en-US" sz="2000" b="1" dirty="0" smtClean="0">
                <a:solidFill>
                  <a:srgbClr val="FFFFFF"/>
                </a:solidFill>
                <a:latin typeface="Arial Black" panose="020B0A04020102020204" pitchFamily="34" charset="0"/>
                <a:ea typeface="Montserrat Light Bold" panose="00000800000000000000"/>
                <a:cs typeface="Montserrat Light Bold" panose="00000800000000000000"/>
                <a:sym typeface="Montserrat Light Bold" panose="00000800000000000000"/>
              </a:rPr>
              <a:t>PROGRAME: BSC </a:t>
            </a:r>
            <a:r>
              <a:rPr lang="en-US" sz="2000" b="1" dirty="0" smtClean="0">
                <a:solidFill>
                  <a:srgbClr val="FFFFFF"/>
                </a:solidFill>
                <a:latin typeface="Arial Black" panose="020B0A04020102020204" pitchFamily="34" charset="0"/>
                <a:ea typeface="Montserrat Light Bold" panose="00000800000000000000"/>
                <a:cs typeface="Montserrat Light Bold" panose="00000800000000000000"/>
                <a:sym typeface="Montserrat Light Bold" panose="00000800000000000000"/>
              </a:rPr>
              <a:t>INFORMATION TECHNOLOGY</a:t>
            </a:r>
            <a:endParaRPr lang="en-US" sz="2000" b="1" dirty="0">
              <a:solidFill>
                <a:srgbClr val="FFFFFF"/>
              </a:solidFill>
              <a:latin typeface="Arial Black" panose="020B0A04020102020204" pitchFamily="34" charset="0"/>
              <a:ea typeface="Montserrat Light Bold" panose="00000800000000000000"/>
              <a:cs typeface="Montserrat Light Bold" panose="00000800000000000000"/>
              <a:sym typeface="Montserrat Light Bold" panose="00000800000000000000"/>
            </a:endParaRPr>
          </a:p>
        </p:txBody>
      </p:sp>
      <p:sp>
        <p:nvSpPr>
          <p:cNvPr id="37" name="TextBox 37"/>
          <p:cNvSpPr txBox="1"/>
          <p:nvPr/>
        </p:nvSpPr>
        <p:spPr>
          <a:xfrm>
            <a:off x="6858000" y="5067300"/>
            <a:ext cx="4800600" cy="1252050"/>
          </a:xfrm>
          <a:prstGeom prst="rect">
            <a:avLst/>
          </a:prstGeom>
          <a:solidFill>
            <a:schemeClr val="accent3">
              <a:lumMod val="50000"/>
            </a:schemeClr>
          </a:solidFill>
        </p:spPr>
        <p:txBody>
          <a:bodyPr lIns="56055" tIns="56055" rIns="56055" bIns="56055" rtlCol="0" anchor="ctr"/>
          <a:lstStyle/>
          <a:p>
            <a:pPr algn="ctr">
              <a:lnSpc>
                <a:spcPts val="4550"/>
              </a:lnSpc>
            </a:pPr>
            <a:r>
              <a:rPr lang="en-US" sz="2000" b="1" dirty="0">
                <a:solidFill>
                  <a:srgbClr val="FFFFFF"/>
                </a:solidFill>
                <a:latin typeface="Arial Black" panose="020B0A04020102020204" pitchFamily="34" charset="0"/>
                <a:ea typeface="Montserrat Light Bold" panose="00000800000000000000"/>
                <a:cs typeface="Montserrat Light Bold" panose="00000800000000000000"/>
                <a:sym typeface="Montserrat Light Bold" panose="00000800000000000000"/>
              </a:rPr>
              <a:t>PHONE </a:t>
            </a:r>
            <a:r>
              <a:rPr lang="en-US" sz="2000" b="1" dirty="0" smtClean="0">
                <a:solidFill>
                  <a:srgbClr val="FFFFFF"/>
                </a:solidFill>
                <a:latin typeface="Arial Black" panose="020B0A04020102020204" pitchFamily="34" charset="0"/>
                <a:ea typeface="Montserrat Light Bold" panose="00000800000000000000"/>
                <a:cs typeface="Montserrat Light Bold" panose="00000800000000000000"/>
                <a:sym typeface="Montserrat Light Bold" panose="00000800000000000000"/>
              </a:rPr>
              <a:t>NUMBER: 08176150375</a:t>
            </a:r>
            <a:endParaRPr lang="en-US" sz="2000" b="1" dirty="0">
              <a:solidFill>
                <a:srgbClr val="FFFFFF"/>
              </a:solidFill>
              <a:latin typeface="Arial Black" panose="020B0A04020102020204" pitchFamily="34" charset="0"/>
              <a:ea typeface="Montserrat Light Bold" panose="00000800000000000000"/>
              <a:cs typeface="Montserrat Light Bold" panose="00000800000000000000"/>
              <a:sym typeface="Montserrat Light Bold" panose="00000800000000000000"/>
            </a:endParaRPr>
          </a:p>
        </p:txBody>
      </p:sp>
      <p:grpSp>
        <p:nvGrpSpPr>
          <p:cNvPr id="38" name="Group 38"/>
          <p:cNvGrpSpPr/>
          <p:nvPr/>
        </p:nvGrpSpPr>
        <p:grpSpPr>
          <a:xfrm>
            <a:off x="1219201" y="6743699"/>
            <a:ext cx="3962400" cy="1295401"/>
            <a:chOff x="0" y="-90907"/>
            <a:chExt cx="825638" cy="226835"/>
          </a:xfrm>
          <a:solidFill>
            <a:schemeClr val="accent3">
              <a:lumMod val="50000"/>
            </a:schemeClr>
          </a:solidFill>
        </p:grpSpPr>
        <p:sp>
          <p:nvSpPr>
            <p:cNvPr id="39" name="Freeform 39"/>
            <p:cNvSpPr/>
            <p:nvPr/>
          </p:nvSpPr>
          <p:spPr>
            <a:xfrm>
              <a:off x="0" y="0"/>
              <a:ext cx="825638" cy="135928"/>
            </a:xfrm>
            <a:custGeom>
              <a:avLst/>
              <a:gdLst/>
              <a:ahLst/>
              <a:cxnLst/>
              <a:rect l="l" t="t" r="r" b="b"/>
              <a:pathLst>
                <a:path w="825638" h="135928">
                  <a:moveTo>
                    <a:pt x="41088" y="0"/>
                  </a:moveTo>
                  <a:lnTo>
                    <a:pt x="784550" y="0"/>
                  </a:lnTo>
                  <a:cubicBezTo>
                    <a:pt x="807242" y="0"/>
                    <a:pt x="825638" y="18396"/>
                    <a:pt x="825638" y="41088"/>
                  </a:cubicBezTo>
                  <a:lnTo>
                    <a:pt x="825638" y="94840"/>
                  </a:lnTo>
                  <a:cubicBezTo>
                    <a:pt x="825638" y="117533"/>
                    <a:pt x="807242" y="135928"/>
                    <a:pt x="784550" y="135928"/>
                  </a:cubicBezTo>
                  <a:lnTo>
                    <a:pt x="41088" y="135928"/>
                  </a:lnTo>
                  <a:cubicBezTo>
                    <a:pt x="18396" y="135928"/>
                    <a:pt x="0" y="117533"/>
                    <a:pt x="0" y="94840"/>
                  </a:cubicBezTo>
                  <a:lnTo>
                    <a:pt x="0" y="41088"/>
                  </a:lnTo>
                  <a:cubicBezTo>
                    <a:pt x="0" y="18396"/>
                    <a:pt x="18396" y="0"/>
                    <a:pt x="41088" y="0"/>
                  </a:cubicBezTo>
                  <a:close/>
                </a:path>
              </a:pathLst>
            </a:custGeom>
            <a:grpFill/>
          </p:spPr>
          <p:txBody>
            <a:bodyPr/>
            <a:lstStyle/>
            <a:p>
              <a:endParaRPr lang="en-US"/>
            </a:p>
          </p:txBody>
        </p:sp>
        <p:sp>
          <p:nvSpPr>
            <p:cNvPr id="40" name="TextBox 40"/>
            <p:cNvSpPr txBox="1"/>
            <p:nvPr/>
          </p:nvSpPr>
          <p:spPr>
            <a:xfrm>
              <a:off x="0" y="-90907"/>
              <a:ext cx="825638" cy="226835"/>
            </a:xfrm>
            <a:prstGeom prst="rect">
              <a:avLst/>
            </a:prstGeom>
            <a:grpFill/>
          </p:spPr>
          <p:txBody>
            <a:bodyPr lIns="56055" tIns="56055" rIns="56055" bIns="56055" rtlCol="0" anchor="ctr"/>
            <a:lstStyle/>
            <a:p>
              <a:pPr algn="ctr">
                <a:lnSpc>
                  <a:spcPts val="4550"/>
                </a:lnSpc>
              </a:pPr>
              <a:r>
                <a:rPr lang="en-US" sz="2000" b="1" dirty="0">
                  <a:solidFill>
                    <a:srgbClr val="FFFFFF"/>
                  </a:solidFill>
                  <a:latin typeface="Arial Black" panose="020B0A04020102020204" pitchFamily="34" charset="0"/>
                  <a:ea typeface="Montserrat Light Bold" panose="00000800000000000000"/>
                  <a:cs typeface="Montserrat Light Bold" panose="00000800000000000000"/>
                  <a:sym typeface="Montserrat Light Bold" panose="00000800000000000000"/>
                </a:rPr>
                <a:t>STUDY </a:t>
              </a:r>
              <a:r>
                <a:rPr lang="en-US" sz="2000" b="1" dirty="0" smtClean="0">
                  <a:solidFill>
                    <a:srgbClr val="FFFFFF"/>
                  </a:solidFill>
                  <a:latin typeface="Arial Black" panose="020B0A04020102020204" pitchFamily="34" charset="0"/>
                  <a:ea typeface="Montserrat Light Bold" panose="00000800000000000000"/>
                  <a:cs typeface="Montserrat Light Bold" panose="00000800000000000000"/>
                  <a:sym typeface="Montserrat Light Bold" panose="00000800000000000000"/>
                </a:rPr>
                <a:t>CENTRE: ENUGU</a:t>
              </a:r>
              <a:endParaRPr lang="en-US" sz="2000" b="1" dirty="0">
                <a:solidFill>
                  <a:srgbClr val="FFFFFF"/>
                </a:solidFill>
                <a:latin typeface="Arial Black" panose="020B0A04020102020204" pitchFamily="34" charset="0"/>
                <a:ea typeface="Montserrat Light Bold" panose="00000800000000000000"/>
                <a:cs typeface="Montserrat Light Bold" panose="00000800000000000000"/>
                <a:sym typeface="Montserrat Light Bold" panose="00000800000000000000"/>
              </a:endParaRPr>
            </a:p>
          </p:txBody>
        </p:sp>
      </p:grpSp>
      <p:grpSp>
        <p:nvGrpSpPr>
          <p:cNvPr id="41" name="Group 41"/>
          <p:cNvGrpSpPr/>
          <p:nvPr/>
        </p:nvGrpSpPr>
        <p:grpSpPr>
          <a:xfrm>
            <a:off x="6858000" y="6896100"/>
            <a:ext cx="4800600" cy="990600"/>
            <a:chOff x="0" y="0"/>
            <a:chExt cx="825638" cy="133580"/>
          </a:xfrm>
          <a:solidFill>
            <a:schemeClr val="accent3">
              <a:lumMod val="50000"/>
            </a:schemeClr>
          </a:solidFill>
        </p:grpSpPr>
        <p:sp>
          <p:nvSpPr>
            <p:cNvPr id="42" name="Freeform 42"/>
            <p:cNvSpPr/>
            <p:nvPr/>
          </p:nvSpPr>
          <p:spPr>
            <a:xfrm>
              <a:off x="0" y="0"/>
              <a:ext cx="825638" cy="133580"/>
            </a:xfrm>
            <a:custGeom>
              <a:avLst/>
              <a:gdLst/>
              <a:ahLst/>
              <a:cxnLst/>
              <a:rect l="l" t="t" r="r" b="b"/>
              <a:pathLst>
                <a:path w="825638" h="133580">
                  <a:moveTo>
                    <a:pt x="40716" y="0"/>
                  </a:moveTo>
                  <a:lnTo>
                    <a:pt x="784922" y="0"/>
                  </a:lnTo>
                  <a:cubicBezTo>
                    <a:pt x="807409" y="0"/>
                    <a:pt x="825638" y="18229"/>
                    <a:pt x="825638" y="40716"/>
                  </a:cubicBezTo>
                  <a:lnTo>
                    <a:pt x="825638" y="92864"/>
                  </a:lnTo>
                  <a:cubicBezTo>
                    <a:pt x="825638" y="115351"/>
                    <a:pt x="807409" y="133580"/>
                    <a:pt x="784922" y="133580"/>
                  </a:cubicBezTo>
                  <a:lnTo>
                    <a:pt x="40716" y="133580"/>
                  </a:lnTo>
                  <a:cubicBezTo>
                    <a:pt x="18229" y="133580"/>
                    <a:pt x="0" y="115351"/>
                    <a:pt x="0" y="92864"/>
                  </a:cubicBezTo>
                  <a:lnTo>
                    <a:pt x="0" y="40716"/>
                  </a:lnTo>
                  <a:cubicBezTo>
                    <a:pt x="0" y="18229"/>
                    <a:pt x="18229" y="0"/>
                    <a:pt x="40716" y="0"/>
                  </a:cubicBezTo>
                  <a:close/>
                </a:path>
              </a:pathLst>
            </a:custGeom>
            <a:grpFill/>
          </p:spPr>
          <p:txBody>
            <a:bodyPr/>
            <a:lstStyle/>
            <a:p>
              <a:endParaRPr lang="en-US"/>
            </a:p>
          </p:txBody>
        </p:sp>
        <p:sp>
          <p:nvSpPr>
            <p:cNvPr id="43" name="TextBox 43"/>
            <p:cNvSpPr txBox="1"/>
            <p:nvPr/>
          </p:nvSpPr>
          <p:spPr>
            <a:xfrm>
              <a:off x="0" y="-19050"/>
              <a:ext cx="825638" cy="152630"/>
            </a:xfrm>
            <a:prstGeom prst="rect">
              <a:avLst/>
            </a:prstGeom>
            <a:grpFill/>
          </p:spPr>
          <p:txBody>
            <a:bodyPr lIns="56055" tIns="56055" rIns="56055" bIns="56055" rtlCol="0" anchor="ctr"/>
            <a:lstStyle/>
            <a:p>
              <a:pPr algn="ctr">
                <a:lnSpc>
                  <a:spcPts val="4550"/>
                </a:lnSpc>
              </a:pPr>
              <a:r>
                <a:rPr lang="en-US" sz="2000" b="1" dirty="0" smtClean="0">
                  <a:solidFill>
                    <a:srgbClr val="FFFFFF"/>
                  </a:solidFill>
                  <a:latin typeface="Arial Black" panose="020B0A04020102020204" pitchFamily="34" charset="0"/>
                  <a:ea typeface="Montserrat Light Bold" panose="00000800000000000000"/>
                  <a:cs typeface="Montserrat Light Bold" panose="00000800000000000000"/>
                  <a:sym typeface="Montserrat Light Bold" panose="00000800000000000000"/>
                </a:rPr>
                <a:t>ZONE: SOUTH EAST</a:t>
              </a:r>
              <a:endParaRPr lang="en-US" sz="2000" b="1" dirty="0">
                <a:solidFill>
                  <a:srgbClr val="FFFFFF"/>
                </a:solidFill>
                <a:latin typeface="Arial Black" panose="020B0A04020102020204" pitchFamily="34" charset="0"/>
                <a:ea typeface="Montserrat Light Bold" panose="00000800000000000000"/>
                <a:cs typeface="Montserrat Light Bold" panose="00000800000000000000"/>
                <a:sym typeface="Montserrat Light Bold" panose="00000800000000000000"/>
              </a:endParaRPr>
            </a:p>
          </p:txBody>
        </p:sp>
      </p:grpSp>
      <p:sp>
        <p:nvSpPr>
          <p:cNvPr id="46" name="TextBox 46"/>
          <p:cNvSpPr txBox="1"/>
          <p:nvPr/>
        </p:nvSpPr>
        <p:spPr>
          <a:xfrm>
            <a:off x="6858000" y="8191500"/>
            <a:ext cx="4800600" cy="1295400"/>
          </a:xfrm>
          <a:prstGeom prst="rect">
            <a:avLst/>
          </a:prstGeom>
          <a:solidFill>
            <a:schemeClr val="accent3">
              <a:lumMod val="50000"/>
            </a:schemeClr>
          </a:solidFill>
        </p:spPr>
        <p:txBody>
          <a:bodyPr lIns="54362" tIns="54362" rIns="54362" bIns="54362" rtlCol="0" anchor="ctr"/>
          <a:lstStyle/>
          <a:p>
            <a:pPr algn="ctr">
              <a:lnSpc>
                <a:spcPts val="4550"/>
              </a:lnSpc>
            </a:pPr>
            <a:r>
              <a:rPr lang="en-US" b="1" dirty="0" smtClean="0">
                <a:solidFill>
                  <a:srgbClr val="FFFFFF"/>
                </a:solidFill>
                <a:latin typeface="Arial Black" panose="020B0A04020102020204" pitchFamily="34" charset="0"/>
                <a:ea typeface="Montserrat Light Bold" panose="00000800000000000000"/>
                <a:cs typeface="Montserrat Light Bold" panose="00000800000000000000"/>
                <a:sym typeface="Montserrat Light Bold" panose="00000800000000000000"/>
              </a:rPr>
              <a:t>EMAIL: NOU252748203@NOUN.EDU.NG</a:t>
            </a:r>
            <a:endParaRPr lang="en-US" b="1" dirty="0">
              <a:solidFill>
                <a:srgbClr val="FFFFFF"/>
              </a:solidFill>
              <a:latin typeface="Arial Black" panose="020B0A04020102020204" pitchFamily="34" charset="0"/>
              <a:ea typeface="Montserrat Light Bold" panose="00000800000000000000"/>
              <a:cs typeface="Montserrat Light Bold" panose="00000800000000000000"/>
              <a:sym typeface="Montserrat Light Bold" panose="00000800000000000000"/>
            </a:endParaRPr>
          </a:p>
        </p:txBody>
      </p:sp>
      <p:grpSp>
        <p:nvGrpSpPr>
          <p:cNvPr id="47" name="Group 47"/>
          <p:cNvGrpSpPr/>
          <p:nvPr/>
        </p:nvGrpSpPr>
        <p:grpSpPr>
          <a:xfrm>
            <a:off x="1219200" y="8343900"/>
            <a:ext cx="3962400" cy="1143000"/>
            <a:chOff x="0" y="0"/>
            <a:chExt cx="825638" cy="135928"/>
          </a:xfrm>
          <a:solidFill>
            <a:schemeClr val="accent3">
              <a:lumMod val="50000"/>
            </a:schemeClr>
          </a:solidFill>
        </p:grpSpPr>
        <p:sp>
          <p:nvSpPr>
            <p:cNvPr id="48" name="Freeform 48"/>
            <p:cNvSpPr/>
            <p:nvPr/>
          </p:nvSpPr>
          <p:spPr>
            <a:xfrm>
              <a:off x="0" y="0"/>
              <a:ext cx="825638" cy="135928"/>
            </a:xfrm>
            <a:custGeom>
              <a:avLst/>
              <a:gdLst/>
              <a:ahLst/>
              <a:cxnLst/>
              <a:rect l="l" t="t" r="r" b="b"/>
              <a:pathLst>
                <a:path w="825638" h="135928">
                  <a:moveTo>
                    <a:pt x="40616" y="0"/>
                  </a:moveTo>
                  <a:lnTo>
                    <a:pt x="785022" y="0"/>
                  </a:lnTo>
                  <a:cubicBezTo>
                    <a:pt x="807453" y="0"/>
                    <a:pt x="825638" y="18184"/>
                    <a:pt x="825638" y="40616"/>
                  </a:cubicBezTo>
                  <a:lnTo>
                    <a:pt x="825638" y="95313"/>
                  </a:lnTo>
                  <a:cubicBezTo>
                    <a:pt x="825638" y="117744"/>
                    <a:pt x="807453" y="135928"/>
                    <a:pt x="785022" y="135928"/>
                  </a:cubicBezTo>
                  <a:lnTo>
                    <a:pt x="40616" y="135928"/>
                  </a:lnTo>
                  <a:cubicBezTo>
                    <a:pt x="18184" y="135928"/>
                    <a:pt x="0" y="117744"/>
                    <a:pt x="0" y="95313"/>
                  </a:cubicBezTo>
                  <a:lnTo>
                    <a:pt x="0" y="40616"/>
                  </a:lnTo>
                  <a:cubicBezTo>
                    <a:pt x="0" y="18184"/>
                    <a:pt x="18184" y="0"/>
                    <a:pt x="40616" y="0"/>
                  </a:cubicBezTo>
                  <a:close/>
                </a:path>
              </a:pathLst>
            </a:custGeom>
            <a:grpFill/>
          </p:spPr>
          <p:txBody>
            <a:bodyPr/>
            <a:lstStyle/>
            <a:p>
              <a:endParaRPr lang="en-US"/>
            </a:p>
          </p:txBody>
        </p:sp>
        <p:sp>
          <p:nvSpPr>
            <p:cNvPr id="49" name="TextBox 49"/>
            <p:cNvSpPr txBox="1"/>
            <p:nvPr/>
          </p:nvSpPr>
          <p:spPr>
            <a:xfrm>
              <a:off x="0" y="-19050"/>
              <a:ext cx="825638" cy="154978"/>
            </a:xfrm>
            <a:prstGeom prst="rect">
              <a:avLst/>
            </a:prstGeom>
            <a:grpFill/>
          </p:spPr>
          <p:txBody>
            <a:bodyPr lIns="54362" tIns="54362" rIns="54362" bIns="54362" rtlCol="0" anchor="ctr"/>
            <a:lstStyle/>
            <a:p>
              <a:pPr algn="ctr">
                <a:lnSpc>
                  <a:spcPts val="3120"/>
                </a:lnSpc>
              </a:pPr>
              <a:endParaRPr lang="en-US" sz="2400" b="1" dirty="0">
                <a:solidFill>
                  <a:srgbClr val="FFFFFF"/>
                </a:solidFill>
                <a:latin typeface="Arial Black" panose="020B0A04020102020204" pitchFamily="34" charset="0"/>
                <a:ea typeface="Montserrat Light Bold" panose="00000800000000000000"/>
                <a:cs typeface="Montserrat Light Bold" panose="00000800000000000000"/>
                <a:sym typeface="Montserrat Light Bold" panose="00000800000000000000"/>
              </a:endParaRPr>
            </a:p>
            <a:p>
              <a:pPr algn="ctr">
                <a:lnSpc>
                  <a:spcPts val="3120"/>
                </a:lnSpc>
              </a:pPr>
              <a:r>
                <a:rPr lang="en-US" sz="2400" b="1" dirty="0">
                  <a:solidFill>
                    <a:srgbClr val="FFFFFF"/>
                  </a:solidFill>
                  <a:latin typeface="Arial Black" panose="020B0A04020102020204" pitchFamily="34" charset="0"/>
                  <a:ea typeface="Montserrat Light Bold" panose="00000800000000000000"/>
                  <a:cs typeface="Montserrat Light Bold" panose="00000800000000000000"/>
                  <a:sym typeface="Montserrat Light Bold" panose="00000800000000000000"/>
                </a:rPr>
                <a:t>FOCUSED </a:t>
              </a:r>
              <a:r>
                <a:rPr lang="en-US" sz="2400" b="1" dirty="0" smtClean="0">
                  <a:solidFill>
                    <a:srgbClr val="FFFFFF"/>
                  </a:solidFill>
                  <a:latin typeface="Arial Black" panose="020B0A04020102020204" pitchFamily="34" charset="0"/>
                  <a:ea typeface="Montserrat Light Bold" panose="00000800000000000000"/>
                  <a:cs typeface="Montserrat Light Bold" panose="00000800000000000000"/>
                  <a:sym typeface="Montserrat Light Bold" panose="00000800000000000000"/>
                </a:rPr>
                <a:t>SDG: SDG4, SDG8 &amp; SDG10</a:t>
              </a:r>
              <a:endParaRPr lang="en-US" sz="2400" b="1" dirty="0">
                <a:solidFill>
                  <a:srgbClr val="FFFFFF"/>
                </a:solidFill>
                <a:latin typeface="Arial Black" panose="020B0A04020102020204" pitchFamily="34" charset="0"/>
                <a:ea typeface="Montserrat Light Bold" panose="00000800000000000000"/>
                <a:cs typeface="Montserrat Light Bold" panose="00000800000000000000"/>
                <a:sym typeface="Montserrat Light Bold" panose="00000800000000000000"/>
              </a:endParaRPr>
            </a:p>
            <a:p>
              <a:pPr algn="ctr">
                <a:lnSpc>
                  <a:spcPts val="3120"/>
                </a:lnSpc>
              </a:pPr>
              <a:endParaRPr lang="en-US" sz="2400" dirty="0">
                <a:solidFill>
                  <a:srgbClr val="FFFFFF"/>
                </a:solidFill>
                <a:latin typeface="Montserrat Light" panose="00000400000000000000"/>
                <a:ea typeface="Montserrat Light" panose="00000400000000000000"/>
                <a:cs typeface="Montserrat Light" panose="00000400000000000000"/>
                <a:sym typeface="Montserrat Light" panose="00000400000000000000"/>
              </a:endParaRPr>
            </a:p>
          </p:txBody>
        </p:sp>
      </p:grpSp>
      <p:sp>
        <p:nvSpPr>
          <p:cNvPr id="50" name="Freeform 50"/>
          <p:cNvSpPr/>
          <p:nvPr/>
        </p:nvSpPr>
        <p:spPr>
          <a:xfrm>
            <a:off x="809262" y="542959"/>
            <a:ext cx="837310" cy="978203"/>
          </a:xfrm>
          <a:custGeom>
            <a:avLst/>
            <a:gdLst/>
            <a:ahLst/>
            <a:cxnLst/>
            <a:rect l="l" t="t" r="r" b="b"/>
            <a:pathLst>
              <a:path w="837310" h="978203">
                <a:moveTo>
                  <a:pt x="0" y="0"/>
                </a:moveTo>
                <a:lnTo>
                  <a:pt x="837310" y="0"/>
                </a:lnTo>
                <a:lnTo>
                  <a:pt x="837310" y="978203"/>
                </a:lnTo>
                <a:lnTo>
                  <a:pt x="0" y="978203"/>
                </a:lnTo>
                <a:lnTo>
                  <a:pt x="0" y="0"/>
                </a:lnTo>
                <a:close/>
              </a:path>
            </a:pathLst>
          </a:custGeom>
          <a:blipFill>
            <a:blip r:embed="rId10" cstate="print"/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grpSp>
        <p:nvGrpSpPr>
          <p:cNvPr id="51" name="Group 51"/>
          <p:cNvGrpSpPr/>
          <p:nvPr/>
        </p:nvGrpSpPr>
        <p:grpSpPr>
          <a:xfrm>
            <a:off x="12649201" y="8267700"/>
            <a:ext cx="6172199" cy="1905000"/>
            <a:chOff x="-38242" y="-15962"/>
            <a:chExt cx="1464552" cy="411804"/>
          </a:xfrm>
        </p:grpSpPr>
        <p:sp>
          <p:nvSpPr>
            <p:cNvPr id="52" name="Freeform 52"/>
            <p:cNvSpPr/>
            <p:nvPr/>
          </p:nvSpPr>
          <p:spPr>
            <a:xfrm>
              <a:off x="0" y="16143"/>
              <a:ext cx="1426310" cy="346786"/>
            </a:xfrm>
            <a:custGeom>
              <a:avLst/>
              <a:gdLst/>
              <a:ahLst/>
              <a:cxnLst/>
              <a:rect l="l" t="t" r="r" b="b"/>
              <a:pathLst>
                <a:path w="1426310" h="218683">
                  <a:moveTo>
                    <a:pt x="23183" y="0"/>
                  </a:moveTo>
                  <a:lnTo>
                    <a:pt x="1403127" y="0"/>
                  </a:lnTo>
                  <a:cubicBezTo>
                    <a:pt x="1409276" y="0"/>
                    <a:pt x="1415172" y="2443"/>
                    <a:pt x="1419520" y="6790"/>
                  </a:cubicBezTo>
                  <a:cubicBezTo>
                    <a:pt x="1423868" y="11138"/>
                    <a:pt x="1426310" y="17035"/>
                    <a:pt x="1426310" y="23183"/>
                  </a:cubicBezTo>
                  <a:lnTo>
                    <a:pt x="1426310" y="195500"/>
                  </a:lnTo>
                  <a:cubicBezTo>
                    <a:pt x="1426310" y="201648"/>
                    <a:pt x="1423868" y="207545"/>
                    <a:pt x="1419520" y="211892"/>
                  </a:cubicBezTo>
                  <a:cubicBezTo>
                    <a:pt x="1415172" y="216240"/>
                    <a:pt x="1409276" y="218683"/>
                    <a:pt x="1403127" y="218683"/>
                  </a:cubicBezTo>
                  <a:lnTo>
                    <a:pt x="23183" y="218683"/>
                  </a:lnTo>
                  <a:cubicBezTo>
                    <a:pt x="17035" y="218683"/>
                    <a:pt x="11138" y="216240"/>
                    <a:pt x="6790" y="211892"/>
                  </a:cubicBezTo>
                  <a:cubicBezTo>
                    <a:pt x="2443" y="207545"/>
                    <a:pt x="0" y="201648"/>
                    <a:pt x="0" y="195500"/>
                  </a:cubicBezTo>
                  <a:lnTo>
                    <a:pt x="0" y="23183"/>
                  </a:lnTo>
                  <a:cubicBezTo>
                    <a:pt x="0" y="17035"/>
                    <a:pt x="2443" y="11138"/>
                    <a:pt x="6790" y="6790"/>
                  </a:cubicBezTo>
                  <a:cubicBezTo>
                    <a:pt x="11138" y="2443"/>
                    <a:pt x="17035" y="0"/>
                    <a:pt x="23183" y="0"/>
                  </a:cubicBezTo>
                  <a:close/>
                </a:path>
              </a:pathLst>
            </a:custGeom>
            <a:solidFill>
              <a:srgbClr val="FFA916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53" name="TextBox 53"/>
            <p:cNvSpPr txBox="1"/>
            <p:nvPr/>
          </p:nvSpPr>
          <p:spPr>
            <a:xfrm>
              <a:off x="-38242" y="-15962"/>
              <a:ext cx="1426310" cy="411804"/>
            </a:xfrm>
            <a:prstGeom prst="rect">
              <a:avLst/>
            </a:prstGeom>
          </p:spPr>
          <p:txBody>
            <a:bodyPr lIns="54362" tIns="54362" rIns="54362" bIns="54362" rtlCol="0" anchor="ctr"/>
            <a:lstStyle/>
            <a:p>
              <a:pPr algn="ctr">
                <a:lnSpc>
                  <a:spcPts val="4550"/>
                </a:lnSpc>
              </a:pPr>
              <a:r>
                <a:rPr lang="en-US" sz="2400" b="1" dirty="0" smtClean="0">
                  <a:solidFill>
                    <a:srgbClr val="FFFFFF"/>
                  </a:solidFill>
                  <a:latin typeface="Arial Black" panose="020B0A04020102020204" pitchFamily="34" charset="0"/>
                  <a:ea typeface="Montserrat Light Bold" panose="00000800000000000000"/>
                  <a:cs typeface="Montserrat Light Bold" panose="00000800000000000000"/>
                  <a:sym typeface="Montserrat Light Bold" panose="00000800000000000000"/>
                </a:rPr>
                <a:t>AKABUEZE ROSEMARY CHISOM</a:t>
              </a:r>
              <a:endParaRPr lang="en-US" sz="2400" b="1" dirty="0">
                <a:solidFill>
                  <a:srgbClr val="FFFFFF"/>
                </a:solidFill>
                <a:latin typeface="Arial Black" panose="020B0A04020102020204" pitchFamily="34" charset="0"/>
                <a:ea typeface="Montserrat Light Bold" panose="00000800000000000000"/>
                <a:cs typeface="Montserrat Light Bold" panose="00000800000000000000"/>
                <a:sym typeface="Montserrat Light Bold" panose="00000800000000000000"/>
              </a:endParaRPr>
            </a:p>
            <a:p>
              <a:pPr algn="ctr">
                <a:lnSpc>
                  <a:spcPts val="4550"/>
                </a:lnSpc>
              </a:pPr>
              <a:r>
                <a:rPr lang="en-US" sz="3500" b="1" dirty="0">
                  <a:solidFill>
                    <a:srgbClr val="FFFFFF"/>
                  </a:solidFill>
                  <a:latin typeface="Arial Black" panose="020B0A04020102020204" pitchFamily="34" charset="0"/>
                  <a:ea typeface="Montserrat Light Bold" panose="00000800000000000000"/>
                  <a:cs typeface="Montserrat Light Bold" panose="00000800000000000000"/>
                  <a:sym typeface="Montserrat Light Bold" panose="00000800000000000000"/>
                </a:rPr>
                <a:t>BPIN – </a:t>
              </a:r>
              <a:r>
                <a:rPr lang="en-US" sz="3500" b="1" dirty="0" smtClean="0">
                  <a:solidFill>
                    <a:srgbClr val="FFFFFF"/>
                  </a:solidFill>
                  <a:latin typeface="Arial Black" panose="020B0A04020102020204" pitchFamily="34" charset="0"/>
                  <a:ea typeface="Montserrat Light Bold" panose="00000800000000000000"/>
                  <a:cs typeface="Montserrat Light Bold" panose="00000800000000000000"/>
                  <a:sym typeface="Montserrat Light Bold" panose="00000800000000000000"/>
                </a:rPr>
                <a:t>SE_0155</a:t>
              </a:r>
              <a:endParaRPr lang="en-US" sz="3500" b="1" dirty="0">
                <a:solidFill>
                  <a:srgbClr val="FFFFFF"/>
                </a:solidFill>
                <a:latin typeface="Arial Black" panose="020B0A04020102020204" pitchFamily="34" charset="0"/>
                <a:ea typeface="Montserrat Light Bold" panose="00000800000000000000"/>
                <a:cs typeface="Montserrat Light Bold" panose="00000800000000000000"/>
                <a:sym typeface="Montserrat Light Bold" panose="00000800000000000000"/>
              </a:endParaRPr>
            </a:p>
          </p:txBody>
        </p:sp>
      </p:grpSp>
      <p:sp>
        <p:nvSpPr>
          <p:cNvPr id="54" name="TextBox 54"/>
          <p:cNvSpPr txBox="1"/>
          <p:nvPr/>
        </p:nvSpPr>
        <p:spPr>
          <a:xfrm>
            <a:off x="2239169" y="1030189"/>
            <a:ext cx="8836417" cy="34128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715"/>
              </a:lnSpc>
            </a:pPr>
            <a:r>
              <a:rPr lang="en-US" sz="1940" b="1" spc="96" dirty="0">
                <a:solidFill>
                  <a:srgbClr val="FBB111"/>
                </a:solidFill>
                <a:latin typeface="Maven Pro Bold" panose="00000800000000000000"/>
                <a:ea typeface="Maven Pro Bold" panose="00000800000000000000"/>
                <a:cs typeface="Maven Pro Bold" panose="00000800000000000000"/>
                <a:sym typeface="Maven Pro Bold" panose="00000800000000000000"/>
              </a:rPr>
              <a:t>DIRECTORATE FOR ENTREPRENEURSHIP AND GENERAL STUDIES</a:t>
            </a:r>
          </a:p>
        </p:txBody>
      </p:sp>
      <p:sp>
        <p:nvSpPr>
          <p:cNvPr id="55" name="TextBox 55"/>
          <p:cNvSpPr txBox="1"/>
          <p:nvPr/>
        </p:nvSpPr>
        <p:spPr>
          <a:xfrm>
            <a:off x="2359301" y="1392691"/>
            <a:ext cx="8596153" cy="25531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085"/>
              </a:lnSpc>
            </a:pPr>
            <a:r>
              <a:rPr lang="en-US" sz="1490" spc="74">
                <a:solidFill>
                  <a:srgbClr val="FFB716"/>
                </a:solidFill>
                <a:latin typeface="Open Sauce" panose="00000500000000000000"/>
                <a:ea typeface="Open Sauce" panose="00000500000000000000"/>
                <a:cs typeface="Open Sauce" panose="00000500000000000000"/>
                <a:sym typeface="Open Sauce" panose="00000500000000000000"/>
              </a:rPr>
              <a:t>University Village, Plot 91, Cadastral Zone, Nnamdi Azikiwe Express Way Jabi- Abuja.</a:t>
            </a:r>
          </a:p>
        </p:txBody>
      </p:sp>
      <p:sp>
        <p:nvSpPr>
          <p:cNvPr id="56" name="TextBox 56"/>
          <p:cNvSpPr txBox="1"/>
          <p:nvPr/>
        </p:nvSpPr>
        <p:spPr>
          <a:xfrm>
            <a:off x="1894895" y="520194"/>
            <a:ext cx="10228165" cy="47448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675"/>
              </a:lnSpc>
            </a:pPr>
            <a:r>
              <a:rPr lang="en-US" sz="3830" dirty="0">
                <a:solidFill>
                  <a:srgbClr val="FAFAFA"/>
                </a:solidFill>
                <a:latin typeface="Arial Rounded MT Bold" panose="020F0704030504030204" pitchFamily="34" charset="0"/>
                <a:ea typeface="Codec Pro ExtraBold" panose="00000700000000000000"/>
                <a:cs typeface="Codec Pro ExtraBold" panose="00000700000000000000"/>
                <a:sym typeface="Codec Pro ExtraBold" panose="00000700000000000000"/>
              </a:rPr>
              <a:t>NATIONAL OPEN UNIVERSITY OF NIGERIA</a:t>
            </a:r>
          </a:p>
        </p:txBody>
      </p:sp>
      <p:sp>
        <p:nvSpPr>
          <p:cNvPr id="59" name="TextBox 59"/>
          <p:cNvSpPr txBox="1"/>
          <p:nvPr/>
        </p:nvSpPr>
        <p:spPr>
          <a:xfrm>
            <a:off x="1219200" y="3238500"/>
            <a:ext cx="3962400" cy="1477947"/>
          </a:xfrm>
          <a:prstGeom prst="rect">
            <a:avLst/>
          </a:prstGeom>
          <a:solidFill>
            <a:schemeClr val="accent3">
              <a:lumMod val="50000"/>
            </a:schemeClr>
          </a:solidFill>
        </p:spPr>
        <p:txBody>
          <a:bodyPr lIns="56055" tIns="56055" rIns="56055" bIns="56055" rtlCol="0" anchor="ctr"/>
          <a:lstStyle/>
          <a:p>
            <a:pPr>
              <a:lnSpc>
                <a:spcPts val="4550"/>
              </a:lnSpc>
            </a:pPr>
            <a:r>
              <a:rPr lang="en-US" sz="2000" b="1" dirty="0" smtClean="0">
                <a:solidFill>
                  <a:srgbClr val="FFFFFF"/>
                </a:solidFill>
                <a:latin typeface="Arial Black" panose="020B0A04020102020204" pitchFamily="34" charset="0"/>
                <a:ea typeface="Montserrat Light Bold" panose="00000800000000000000"/>
                <a:cs typeface="Montserrat Light Bold" panose="00000800000000000000"/>
                <a:sym typeface="Montserrat Light Bold" panose="00000800000000000000"/>
              </a:rPr>
              <a:t>Business Title</a:t>
            </a:r>
            <a:r>
              <a:rPr lang="en-US" sz="2000" b="1" dirty="0" smtClean="0">
                <a:solidFill>
                  <a:srgbClr val="FFFFFF"/>
                </a:solidFill>
                <a:latin typeface="Arial Black" panose="020B0A04020102020204" pitchFamily="34" charset="0"/>
                <a:ea typeface="Montserrat Light Bold" panose="00000800000000000000"/>
                <a:cs typeface="Montserrat Light Bold" panose="00000800000000000000"/>
                <a:sym typeface="Montserrat Light Bold" panose="00000800000000000000"/>
              </a:rPr>
              <a:t>: </a:t>
            </a:r>
            <a:r>
              <a:rPr lang="en-US" b="1" dirty="0" smtClean="0">
                <a:solidFill>
                  <a:srgbClr val="FFFFFF"/>
                </a:solidFill>
                <a:latin typeface="Arial Black" panose="020B0A04020102020204" pitchFamily="34" charset="0"/>
                <a:ea typeface="Montserrat Light Bold" panose="00000800000000000000"/>
                <a:cs typeface="Montserrat Light Bold" panose="00000800000000000000"/>
                <a:sym typeface="Montserrat Light Bold" panose="00000800000000000000"/>
              </a:rPr>
              <a:t>DIGITAL INCLUSION &amp; EMPLOYABILITY</a:t>
            </a:r>
            <a:endParaRPr lang="en-US" b="1" dirty="0">
              <a:solidFill>
                <a:srgbClr val="FFFFFF"/>
              </a:solidFill>
              <a:latin typeface="Arial Black" panose="020B0A04020102020204" pitchFamily="34" charset="0"/>
              <a:ea typeface="Montserrat Light Bold" panose="00000800000000000000"/>
              <a:cs typeface="Montserrat Light Bold" panose="00000800000000000000"/>
              <a:sym typeface="Montserrat Light Bold" panose="00000800000000000000"/>
            </a:endParaRPr>
          </a:p>
        </p:txBody>
      </p:sp>
      <p:pic>
        <p:nvPicPr>
          <p:cNvPr id="44" name="Picture 43" descr="IMG-20260616-WA0069.jpg"/>
          <p:cNvPicPr>
            <a:picLocks noChangeAspect="1"/>
          </p:cNvPicPr>
          <p:nvPr/>
        </p:nvPicPr>
        <p:blipFill>
          <a:blip r:embed="rId11" cstate="print"/>
          <a:stretch>
            <a:fillRect/>
          </a:stretch>
        </p:blipFill>
        <p:spPr>
          <a:xfrm>
            <a:off x="12801600" y="1790700"/>
            <a:ext cx="6019800" cy="678180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219456"/>
            <a:ext cx="164592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5200" b="1" dirty="0">
                <a:solidFill>
                  <a:schemeClr val="bg1"/>
                </a:solidFill>
              </a:rPr>
              <a:t>Problem &amp; Solution</a:t>
            </a:r>
            <a:endParaRPr lang="en-US" sz="5200" dirty="0"/>
          </a:p>
        </p:txBody>
      </p:sp>
      <p:sp>
        <p:nvSpPr>
          <p:cNvPr id="3" name="Card Societal Problem"/>
          <p:cNvSpPr/>
          <p:nvPr/>
        </p:nvSpPr>
        <p:spPr>
          <a:xfrm>
            <a:off x="914400" y="2194560"/>
            <a:ext cx="8046720" cy="3200400"/>
          </a:xfrm>
          <a:prstGeom prst="rect">
            <a:avLst/>
          </a:prstGeom>
          <a:solidFill>
            <a:schemeClr val="bg1"/>
          </a:solidFill>
          <a:ln w="9525">
            <a:solidFill>
              <a:srgbClr val="D8DEE6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914400" y="2194560"/>
            <a:ext cx="146304" cy="3200400"/>
          </a:xfrm>
          <a:prstGeom prst="rect">
            <a:avLst/>
          </a:prstGeom>
          <a:solidFill>
            <a:schemeClr val="accent4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1280160" y="2340864"/>
            <a:ext cx="7498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2800" b="1" dirty="0">
                <a:solidFill>
                  <a:schemeClr val="tx2"/>
                </a:solidFill>
              </a:rPr>
              <a:t>Societal Problem</a:t>
            </a:r>
            <a:endParaRPr lang="en-US" sz="2800" dirty="0"/>
          </a:p>
        </p:txBody>
      </p:sp>
      <p:sp>
        <p:nvSpPr>
          <p:cNvPr id="6" name="Text 4"/>
          <p:cNvSpPr txBox="1"/>
          <p:nvPr/>
        </p:nvSpPr>
        <p:spPr>
          <a:xfrm>
            <a:off x="1280160" y="2926080"/>
            <a:ext cx="7498080" cy="23225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n-US" sz="2400" dirty="0" smtClean="0"/>
              <a:t>1. Many </a:t>
            </a:r>
            <a:r>
              <a:rPr lang="en-US" sz="2400" dirty="0"/>
              <a:t>students hold degrees but lack vital </a:t>
            </a:r>
            <a:r>
              <a:rPr lang="en-US" sz="2400" dirty="0" smtClean="0"/>
              <a:t>digital </a:t>
            </a:r>
            <a:r>
              <a:rPr lang="en-US" sz="2400" dirty="0"/>
              <a:t>and workplace </a:t>
            </a:r>
            <a:r>
              <a:rPr lang="en-US" sz="2400" dirty="0" smtClean="0"/>
              <a:t>skills.</a:t>
            </a:r>
            <a:br>
              <a:rPr lang="en-US" sz="2400" dirty="0" smtClean="0"/>
            </a:br>
            <a:r>
              <a:rPr lang="en-US" sz="2400" dirty="0" smtClean="0"/>
              <a:t>2. Graduates face barriers </a:t>
            </a:r>
            <a:r>
              <a:rPr lang="en-US" sz="2400" dirty="0"/>
              <a:t>to employment due to limited practical training</a:t>
            </a:r>
            <a:r>
              <a:rPr lang="en-US" sz="2400" dirty="0" smtClean="0"/>
              <a:t>.</a:t>
            </a:r>
            <a:br>
              <a:rPr lang="en-US" sz="2400" dirty="0" smtClean="0"/>
            </a:br>
            <a:r>
              <a:rPr lang="en-US" sz="2400" dirty="0" smtClean="0"/>
              <a:t>3. Inadequate advancement in technical skills poses threats to employees.</a:t>
            </a:r>
            <a:endParaRPr lang="en-US" sz="2400" dirty="0"/>
          </a:p>
        </p:txBody>
      </p:sp>
      <p:sp>
        <p:nvSpPr>
          <p:cNvPr id="7" name="Card Proposed Solution"/>
          <p:cNvSpPr/>
          <p:nvPr/>
        </p:nvSpPr>
        <p:spPr>
          <a:xfrm>
            <a:off x="9326880" y="2194560"/>
            <a:ext cx="8046720" cy="3200400"/>
          </a:xfrm>
          <a:prstGeom prst="rect">
            <a:avLst/>
          </a:prstGeom>
          <a:solidFill>
            <a:schemeClr val="bg1"/>
          </a:solidFill>
          <a:ln w="9525">
            <a:solidFill>
              <a:srgbClr val="D8DEE6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9326880" y="2194560"/>
            <a:ext cx="146304" cy="3200400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9692640" y="2340864"/>
            <a:ext cx="7498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2800" b="1" dirty="0">
                <a:solidFill>
                  <a:schemeClr val="tx2"/>
                </a:solidFill>
              </a:rPr>
              <a:t>Proposed Solution</a:t>
            </a:r>
            <a:endParaRPr lang="en-US" sz="2800" dirty="0"/>
          </a:p>
        </p:txBody>
      </p:sp>
      <p:sp>
        <p:nvSpPr>
          <p:cNvPr id="10" name="Text 8"/>
          <p:cNvSpPr txBox="1"/>
          <p:nvPr/>
        </p:nvSpPr>
        <p:spPr>
          <a:xfrm>
            <a:off x="9692640" y="2926080"/>
            <a:ext cx="7498080" cy="23225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n-US" sz="2600" dirty="0"/>
              <a:t>An accessible digital platform offering practical digital and career guidance, mentorship, real-world projects, portfolio development and entrepreneurship support, turning knowledge into demonstrable skills, jobs and sustainable income.</a:t>
            </a:r>
          </a:p>
        </p:txBody>
      </p:sp>
      <p:sp>
        <p:nvSpPr>
          <p:cNvPr id="15" name="Card Vision"/>
          <p:cNvSpPr/>
          <p:nvPr/>
        </p:nvSpPr>
        <p:spPr>
          <a:xfrm>
            <a:off x="7239000" y="5676900"/>
            <a:ext cx="4572000" cy="3558540"/>
          </a:xfrm>
          <a:prstGeom prst="rect">
            <a:avLst/>
          </a:prstGeom>
          <a:solidFill>
            <a:schemeClr val="bg1"/>
          </a:solidFill>
          <a:ln w="9525">
            <a:solidFill>
              <a:srgbClr val="D8DEE6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124700" y="5676900"/>
            <a:ext cx="114300" cy="3558540"/>
          </a:xfrm>
          <a:prstGeom prst="rect">
            <a:avLst/>
          </a:prstGeom>
          <a:solidFill>
            <a:schemeClr val="accent5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7372350" y="5822891"/>
            <a:ext cx="3219450" cy="5474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2600" b="1" dirty="0">
                <a:solidFill>
                  <a:schemeClr val="tx2"/>
                </a:solidFill>
              </a:rPr>
              <a:t>Vision</a:t>
            </a:r>
            <a:endParaRPr lang="en-US" sz="2600" dirty="0"/>
          </a:p>
        </p:txBody>
      </p:sp>
      <p:sp>
        <p:nvSpPr>
          <p:cNvPr id="18" name="Text 16"/>
          <p:cNvSpPr txBox="1"/>
          <p:nvPr/>
        </p:nvSpPr>
        <p:spPr>
          <a:xfrm>
            <a:off x="7391400" y="6438900"/>
            <a:ext cx="4143375" cy="2682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n-US" sz="2600" dirty="0"/>
              <a:t>A Nigeria where every </a:t>
            </a:r>
            <a:r>
              <a:rPr lang="en-US" sz="2600" dirty="0" smtClean="0"/>
              <a:t>youth can </a:t>
            </a:r>
            <a:r>
              <a:rPr lang="en-US" sz="2600" dirty="0"/>
              <a:t>turn education into employable skills and income.</a:t>
            </a:r>
          </a:p>
        </p:txBody>
      </p:sp>
      <p:grpSp>
        <p:nvGrpSpPr>
          <p:cNvPr id="26" name="Group 25"/>
          <p:cNvGrpSpPr/>
          <p:nvPr/>
        </p:nvGrpSpPr>
        <p:grpSpPr>
          <a:xfrm>
            <a:off x="12115800" y="5669280"/>
            <a:ext cx="5257800" cy="3566160"/>
            <a:chOff x="11704320" y="5669280"/>
            <a:chExt cx="5669280" cy="3566160"/>
          </a:xfrm>
        </p:grpSpPr>
        <p:sp>
          <p:nvSpPr>
            <p:cNvPr id="19" name="Card Mission"/>
            <p:cNvSpPr/>
            <p:nvPr/>
          </p:nvSpPr>
          <p:spPr>
            <a:xfrm>
              <a:off x="11704320" y="5669280"/>
              <a:ext cx="5669280" cy="3566160"/>
            </a:xfrm>
            <a:prstGeom prst="rect">
              <a:avLst/>
            </a:prstGeom>
            <a:solidFill>
              <a:schemeClr val="bg1"/>
            </a:solidFill>
            <a:ln w="9525">
              <a:solidFill>
                <a:srgbClr val="D8DEE6"/>
              </a:solidFill>
              <a:prstDash val="solid"/>
            </a:ln>
          </p:spPr>
        </p:sp>
        <p:sp>
          <p:nvSpPr>
            <p:cNvPr id="20" name="Shape 18"/>
            <p:cNvSpPr/>
            <p:nvPr/>
          </p:nvSpPr>
          <p:spPr>
            <a:xfrm>
              <a:off x="11704320" y="5669280"/>
              <a:ext cx="146304" cy="3566160"/>
            </a:xfrm>
            <a:prstGeom prst="rect">
              <a:avLst/>
            </a:prstGeom>
            <a:solidFill>
              <a:schemeClr val="tx2"/>
            </a:solidFill>
            <a:ln/>
          </p:spPr>
        </p:sp>
        <p:sp>
          <p:nvSpPr>
            <p:cNvPr id="21" name="Text 19"/>
            <p:cNvSpPr txBox="1"/>
            <p:nvPr/>
          </p:nvSpPr>
          <p:spPr>
            <a:xfrm>
              <a:off x="12070080" y="5815584"/>
              <a:ext cx="5120640" cy="54864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r>
                <a:rPr lang="en-US" sz="2600" b="1" dirty="0">
                  <a:solidFill>
                    <a:schemeClr val="tx2"/>
                  </a:solidFill>
                </a:rPr>
                <a:t>Mission</a:t>
              </a:r>
              <a:endParaRPr lang="en-US" sz="2600" dirty="0"/>
            </a:p>
          </p:txBody>
        </p:sp>
        <p:sp>
          <p:nvSpPr>
            <p:cNvPr id="22" name="Text 20"/>
            <p:cNvSpPr txBox="1"/>
            <p:nvPr/>
          </p:nvSpPr>
          <p:spPr>
            <a:xfrm>
              <a:off x="12070080" y="6400800"/>
              <a:ext cx="5120640" cy="2688336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r>
                <a:rPr lang="en-US" sz="2600" dirty="0"/>
                <a:t>To bridge the gap between certificates and careers through practical, </a:t>
              </a:r>
              <a:r>
                <a:rPr lang="en-US" sz="2600" dirty="0" smtClean="0"/>
                <a:t>affordable and mentor-led </a:t>
              </a:r>
              <a:r>
                <a:rPr lang="en-US" sz="2600" dirty="0"/>
                <a:t>digital skills.</a:t>
              </a:r>
            </a:p>
          </p:txBody>
        </p:sp>
      </p:grp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6642080" y="9656064"/>
            <a:ext cx="731520" cy="4572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800">
                <a:solidFill>
                  <a:schemeClr val="accent6"/>
                </a:solidFill>
              </a:defRPr>
            </a:lvl1pPr>
          </a:lstStyle>
          <a:p>
            <a:pPr algn="l"/>
            <a:fld id="{F7021451-1387-4CA6-816F-3879F97B5CBC}" type="slidenum">
              <a:rPr lang="en-US" b="0"/>
              <a:pPr algn="l"/>
              <a:t>2</a:t>
            </a:fld>
            <a:endParaRPr lang="en-US"/>
          </a:p>
        </p:txBody>
      </p:sp>
      <p:grpSp>
        <p:nvGrpSpPr>
          <p:cNvPr id="29" name="Group 28"/>
          <p:cNvGrpSpPr/>
          <p:nvPr/>
        </p:nvGrpSpPr>
        <p:grpSpPr>
          <a:xfrm>
            <a:off x="914400" y="5669280"/>
            <a:ext cx="6019800" cy="3573780"/>
            <a:chOff x="914400" y="5669280"/>
            <a:chExt cx="6019800" cy="3573780"/>
          </a:xfrm>
        </p:grpSpPr>
        <p:sp>
          <p:nvSpPr>
            <p:cNvPr id="11" name="Card Related SDGs"/>
            <p:cNvSpPr/>
            <p:nvPr/>
          </p:nvSpPr>
          <p:spPr>
            <a:xfrm>
              <a:off x="990600" y="5676900"/>
              <a:ext cx="5943600" cy="3566160"/>
            </a:xfrm>
            <a:prstGeom prst="rect">
              <a:avLst/>
            </a:prstGeom>
            <a:solidFill>
              <a:schemeClr val="bg1"/>
            </a:solidFill>
            <a:ln w="9525">
              <a:solidFill>
                <a:srgbClr val="D8DEE6"/>
              </a:solidFill>
              <a:prstDash val="solid"/>
            </a:ln>
          </p:spPr>
        </p:sp>
        <p:sp>
          <p:nvSpPr>
            <p:cNvPr id="12" name="Shape 10"/>
            <p:cNvSpPr/>
            <p:nvPr/>
          </p:nvSpPr>
          <p:spPr>
            <a:xfrm>
              <a:off x="914400" y="5669280"/>
              <a:ext cx="198120" cy="3566160"/>
            </a:xfrm>
            <a:prstGeom prst="rect">
              <a:avLst/>
            </a:prstGeom>
            <a:solidFill>
              <a:schemeClr val="accent2"/>
            </a:solidFill>
            <a:ln/>
          </p:spPr>
        </p:sp>
        <p:sp>
          <p:nvSpPr>
            <p:cNvPr id="13" name="Text 11"/>
            <p:cNvSpPr txBox="1"/>
            <p:nvPr/>
          </p:nvSpPr>
          <p:spPr>
            <a:xfrm>
              <a:off x="1409700" y="5815584"/>
              <a:ext cx="5200650" cy="54864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r>
                <a:rPr lang="en-US" sz="2600" b="1" dirty="0">
                  <a:solidFill>
                    <a:schemeClr val="tx2"/>
                  </a:solidFill>
                </a:rPr>
                <a:t>Related SDGs</a:t>
              </a:r>
              <a:endParaRPr lang="en-US" sz="2600" dirty="0"/>
            </a:p>
          </p:txBody>
        </p:sp>
        <p:sp>
          <p:nvSpPr>
            <p:cNvPr id="28" name="TextBox 27"/>
            <p:cNvSpPr txBox="1"/>
            <p:nvPr/>
          </p:nvSpPr>
          <p:spPr>
            <a:xfrm>
              <a:off x="1295400" y="6438900"/>
              <a:ext cx="5257800" cy="261610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>
                <a:spcAft>
                  <a:spcPts val="600"/>
                </a:spcAft>
              </a:pPr>
              <a:r>
                <a:rPr lang="en-US" sz="2200" dirty="0" smtClean="0"/>
                <a:t>1. SDG 4: Quality Education: Offers practical digital and workplace ready competencies.</a:t>
              </a:r>
            </a:p>
            <a:p>
              <a:pPr>
                <a:spcAft>
                  <a:spcPts val="600"/>
                </a:spcAft>
              </a:pPr>
              <a:r>
                <a:rPr lang="en-US" sz="2200" dirty="0" smtClean="0"/>
                <a:t>2. SDG8: Decent Work &amp; Economic Growth: Ability to turn graduates into immediate economic contributors.</a:t>
              </a:r>
            </a:p>
            <a:p>
              <a:r>
                <a:rPr lang="en-US" sz="2200" dirty="0" smtClean="0"/>
                <a:t>3. SDG 10: Reduced Inequalities: Provides affordable platform for underserved youths</a:t>
              </a:r>
              <a:r>
                <a:rPr lang="en-US" sz="2000" dirty="0" smtClean="0"/>
                <a:t>.</a:t>
              </a:r>
              <a:endParaRPr lang="en-US" sz="2000" dirty="0"/>
            </a:p>
          </p:txBody>
        </p:sp>
      </p:grp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219456"/>
            <a:ext cx="164592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5200" b="1" dirty="0">
                <a:solidFill>
                  <a:schemeClr val="bg1"/>
                </a:solidFill>
              </a:rPr>
              <a:t>Innovativeness of the Proposed Solution</a:t>
            </a:r>
            <a:endParaRPr lang="en-US" sz="5200" dirty="0"/>
          </a:p>
        </p:txBody>
      </p:sp>
      <p:sp>
        <p:nvSpPr>
          <p:cNvPr id="7" name="Card 21st Century Tools &amp; Tech"/>
          <p:cNvSpPr/>
          <p:nvPr/>
        </p:nvSpPr>
        <p:spPr>
          <a:xfrm>
            <a:off x="9326880" y="2118360"/>
            <a:ext cx="8046720" cy="4777740"/>
          </a:xfrm>
          <a:prstGeom prst="rect">
            <a:avLst/>
          </a:prstGeom>
          <a:solidFill>
            <a:schemeClr val="bg1"/>
          </a:solidFill>
          <a:ln w="9525">
            <a:solidFill>
              <a:srgbClr val="D8DEE6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9220200" y="2118360"/>
            <a:ext cx="152400" cy="4777740"/>
          </a:xfrm>
          <a:prstGeom prst="rect">
            <a:avLst/>
          </a:prstGeom>
          <a:solidFill>
            <a:schemeClr val="accent5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9692640" y="2264664"/>
            <a:ext cx="7498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3000" b="1" dirty="0">
                <a:solidFill>
                  <a:schemeClr val="tx2"/>
                </a:solidFill>
              </a:rPr>
              <a:t>21st Century Tools &amp; Tech</a:t>
            </a:r>
            <a:endParaRPr lang="en-US" sz="3000" dirty="0"/>
          </a:p>
        </p:txBody>
      </p:sp>
      <p:sp>
        <p:nvSpPr>
          <p:cNvPr id="10" name="Text 8"/>
          <p:cNvSpPr txBox="1"/>
          <p:nvPr/>
        </p:nvSpPr>
        <p:spPr>
          <a:xfrm>
            <a:off x="9692640" y="2849880"/>
            <a:ext cx="7498080" cy="40462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685800" indent="-685800">
              <a:spcAft>
                <a:spcPts val="600"/>
              </a:spcAft>
              <a:buSzPct val="100000"/>
              <a:buChar char="•"/>
            </a:pPr>
            <a:r>
              <a:rPr lang="en-US" sz="2600" dirty="0"/>
              <a:t>Generative AI for learning, CV and portfolio building</a:t>
            </a:r>
          </a:p>
          <a:p>
            <a:pPr marL="685800" indent="-685800">
              <a:spcAft>
                <a:spcPts val="600"/>
              </a:spcAft>
              <a:buSzPct val="100000"/>
              <a:buChar char="•"/>
            </a:pPr>
            <a:r>
              <a:rPr lang="en-US" sz="2600" dirty="0"/>
              <a:t>Cloud platform and mobile-friendly web app</a:t>
            </a:r>
          </a:p>
          <a:p>
            <a:pPr marL="685800" indent="-685800">
              <a:spcAft>
                <a:spcPts val="600"/>
              </a:spcAft>
              <a:buSzPct val="100000"/>
              <a:buChar char="•"/>
            </a:pPr>
            <a:r>
              <a:rPr lang="en-US" sz="2600" dirty="0"/>
              <a:t>Video, WhatsApp and online mentoring</a:t>
            </a:r>
          </a:p>
          <a:p>
            <a:pPr marL="685800" indent="-685800">
              <a:spcAft>
                <a:spcPts val="600"/>
              </a:spcAft>
              <a:buSzPct val="100000"/>
              <a:buChar char="•"/>
            </a:pPr>
            <a:r>
              <a:rPr lang="en-US" sz="2600" dirty="0"/>
              <a:t>GitHub and online portfolio sites</a:t>
            </a:r>
          </a:p>
          <a:p>
            <a:pPr marL="685800" indent="-685800">
              <a:spcAft>
                <a:spcPts val="600"/>
              </a:spcAft>
              <a:buSzPct val="100000"/>
              <a:buChar char="•"/>
            </a:pPr>
            <a:r>
              <a:rPr lang="en-US" sz="2600" dirty="0"/>
              <a:t>No-code / AI automation for client projects</a:t>
            </a:r>
          </a:p>
          <a:p>
            <a:pPr marL="685800" indent="-685800">
              <a:spcAft>
                <a:spcPts val="600"/>
              </a:spcAft>
              <a:buSzPct val="100000"/>
              <a:buChar char="•"/>
            </a:pPr>
            <a:r>
              <a:rPr lang="en-US" sz="2600" dirty="0"/>
              <a:t>Digital payments and analytics to track outcomes</a:t>
            </a: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6642080" y="9656064"/>
            <a:ext cx="731520" cy="4572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800">
                <a:solidFill>
                  <a:schemeClr val="accent6"/>
                </a:solidFill>
              </a:defRPr>
            </a:lvl1pPr>
          </a:lstStyle>
          <a:p>
            <a:pPr algn="l"/>
            <a:fld id="{F7021451-1387-4CA6-816F-3879F97B5CBC}" type="slidenum">
              <a:rPr lang="en-US" b="0"/>
              <a:pPr algn="l"/>
              <a:t>3</a:t>
            </a:fld>
            <a:endParaRPr lang="en-US"/>
          </a:p>
        </p:txBody>
      </p:sp>
      <p:sp>
        <p:nvSpPr>
          <p:cNvPr id="13" name="Shape 10"/>
          <p:cNvSpPr/>
          <p:nvPr/>
        </p:nvSpPr>
        <p:spPr>
          <a:xfrm>
            <a:off x="1905000" y="7124700"/>
            <a:ext cx="152400" cy="2438400"/>
          </a:xfrm>
          <a:prstGeom prst="rect">
            <a:avLst/>
          </a:prstGeom>
          <a:solidFill>
            <a:schemeClr val="accent2"/>
          </a:solidFill>
          <a:ln/>
        </p:spPr>
      </p:sp>
      <p:grpSp>
        <p:nvGrpSpPr>
          <p:cNvPr id="20" name="Group 19"/>
          <p:cNvGrpSpPr/>
          <p:nvPr/>
        </p:nvGrpSpPr>
        <p:grpSpPr>
          <a:xfrm>
            <a:off x="838200" y="2095500"/>
            <a:ext cx="8122920" cy="4853940"/>
            <a:chOff x="838200" y="2194560"/>
            <a:chExt cx="8122920" cy="4853940"/>
          </a:xfrm>
        </p:grpSpPr>
        <p:sp>
          <p:nvSpPr>
            <p:cNvPr id="3" name="Card Unique Elements"/>
            <p:cNvSpPr/>
            <p:nvPr/>
          </p:nvSpPr>
          <p:spPr>
            <a:xfrm>
              <a:off x="914400" y="2194560"/>
              <a:ext cx="8046720" cy="4777740"/>
            </a:xfrm>
            <a:prstGeom prst="rect">
              <a:avLst/>
            </a:prstGeom>
            <a:solidFill>
              <a:schemeClr val="bg1"/>
            </a:solidFill>
            <a:ln w="9525">
              <a:solidFill>
                <a:srgbClr val="D8DEE6"/>
              </a:solidFill>
              <a:prstDash val="solid"/>
            </a:ln>
          </p:spPr>
        </p:sp>
        <p:sp>
          <p:nvSpPr>
            <p:cNvPr id="4" name="Shape 2"/>
            <p:cNvSpPr/>
            <p:nvPr/>
          </p:nvSpPr>
          <p:spPr>
            <a:xfrm>
              <a:off x="838200" y="2194560"/>
              <a:ext cx="152400" cy="4777740"/>
            </a:xfrm>
            <a:prstGeom prst="rect">
              <a:avLst/>
            </a:prstGeom>
            <a:solidFill>
              <a:schemeClr val="accent1"/>
            </a:solidFill>
            <a:ln/>
          </p:spPr>
        </p:sp>
        <p:sp>
          <p:nvSpPr>
            <p:cNvPr id="5" name="Text 3"/>
            <p:cNvSpPr txBox="1"/>
            <p:nvPr/>
          </p:nvSpPr>
          <p:spPr>
            <a:xfrm>
              <a:off x="1280160" y="2340864"/>
              <a:ext cx="7498080" cy="54864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r>
                <a:rPr lang="en-US" sz="3000" b="1" dirty="0">
                  <a:solidFill>
                    <a:schemeClr val="tx2"/>
                  </a:solidFill>
                </a:rPr>
                <a:t>Unique Elements</a:t>
              </a:r>
              <a:endParaRPr lang="en-US" sz="3000" dirty="0"/>
            </a:p>
          </p:txBody>
        </p:sp>
        <p:sp>
          <p:nvSpPr>
            <p:cNvPr id="6" name="Text 4"/>
            <p:cNvSpPr txBox="1"/>
            <p:nvPr/>
          </p:nvSpPr>
          <p:spPr>
            <a:xfrm>
              <a:off x="1280160" y="2926080"/>
              <a:ext cx="7498080" cy="41224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685800" indent="-685800">
                <a:spcAft>
                  <a:spcPts val="600"/>
                </a:spcAft>
                <a:buSzPct val="100000"/>
                <a:buChar char="•"/>
              </a:pPr>
              <a:r>
                <a:rPr lang="en-US" sz="2600" dirty="0"/>
                <a:t>Significant improvement on theory-heavy courses: learners build real projects, not just certificates</a:t>
              </a:r>
            </a:p>
            <a:p>
              <a:pPr marL="685800" indent="-685800">
                <a:spcAft>
                  <a:spcPts val="600"/>
                </a:spcAft>
                <a:buSzPct val="100000"/>
                <a:buChar char="•"/>
              </a:pPr>
              <a:r>
                <a:rPr lang="en-US" sz="2600" dirty="0"/>
                <a:t>One platform combining skills, mentorship, portfolio and business support</a:t>
              </a:r>
            </a:p>
            <a:p>
              <a:pPr marL="685800" indent="-685800">
                <a:spcAft>
                  <a:spcPts val="600"/>
                </a:spcAft>
                <a:buSzPct val="100000"/>
                <a:buChar char="•"/>
              </a:pPr>
              <a:r>
                <a:rPr lang="en-US" sz="2600" dirty="0"/>
                <a:t>Designed for low-data, mobile-first access in Nigeria</a:t>
              </a:r>
            </a:p>
            <a:p>
              <a:pPr marL="685800" indent="-685800">
                <a:spcAft>
                  <a:spcPts val="600"/>
                </a:spcAft>
                <a:buSzPct val="100000"/>
                <a:buChar char="•"/>
              </a:pPr>
              <a:r>
                <a:rPr lang="en-US" sz="2600" dirty="0"/>
                <a:t>Outcome-driven: every learner exits with a verified portfolio</a:t>
              </a:r>
            </a:p>
            <a:p>
              <a:pPr marL="685800" indent="-685800">
                <a:spcAft>
                  <a:spcPts val="600"/>
                </a:spcAft>
                <a:buSzPct val="100000"/>
                <a:buChar char="•"/>
              </a:pPr>
              <a:r>
                <a:rPr lang="en-US" sz="2600" dirty="0"/>
                <a:t>Affordable, pay-per-service pricing for students</a:t>
              </a:r>
            </a:p>
          </p:txBody>
        </p:sp>
      </p:grpSp>
      <p:grpSp>
        <p:nvGrpSpPr>
          <p:cNvPr id="26" name="Group 25"/>
          <p:cNvGrpSpPr/>
          <p:nvPr/>
        </p:nvGrpSpPr>
        <p:grpSpPr>
          <a:xfrm>
            <a:off x="2057400" y="7124703"/>
            <a:ext cx="14249400" cy="2473622"/>
            <a:chOff x="4114800" y="7200900"/>
            <a:chExt cx="8991600" cy="2311774"/>
          </a:xfrm>
        </p:grpSpPr>
        <p:sp>
          <p:nvSpPr>
            <p:cNvPr id="12" name="Card Related SDGs"/>
            <p:cNvSpPr/>
            <p:nvPr/>
          </p:nvSpPr>
          <p:spPr>
            <a:xfrm>
              <a:off x="4114800" y="7200900"/>
              <a:ext cx="8991600" cy="2278856"/>
            </a:xfrm>
            <a:prstGeom prst="rect">
              <a:avLst/>
            </a:prstGeom>
            <a:solidFill>
              <a:schemeClr val="bg1"/>
            </a:solidFill>
            <a:ln w="9525">
              <a:solidFill>
                <a:srgbClr val="D8DEE6"/>
              </a:solidFill>
              <a:prstDash val="solid"/>
            </a:ln>
          </p:spPr>
        </p:sp>
        <p:sp>
          <p:nvSpPr>
            <p:cNvPr id="14" name="Text 11"/>
            <p:cNvSpPr txBox="1"/>
            <p:nvPr/>
          </p:nvSpPr>
          <p:spPr>
            <a:xfrm>
              <a:off x="6567055" y="7272113"/>
              <a:ext cx="3221589" cy="54864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r>
                <a:rPr lang="en-US" sz="2600" b="1" dirty="0" smtClean="0">
                  <a:solidFill>
                    <a:schemeClr val="tx2"/>
                  </a:solidFill>
                </a:rPr>
                <a:t>Evidence of Online Visibility</a:t>
              </a:r>
              <a:endParaRPr lang="en-US" sz="2600" dirty="0"/>
            </a:p>
          </p:txBody>
        </p:sp>
        <p:sp>
          <p:nvSpPr>
            <p:cNvPr id="15" name="TextBox 14"/>
            <p:cNvSpPr txBox="1"/>
            <p:nvPr/>
          </p:nvSpPr>
          <p:spPr>
            <a:xfrm>
              <a:off x="5124552" y="8696398"/>
              <a:ext cx="2915974" cy="77662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>
                <a:spcAft>
                  <a:spcPts val="600"/>
                </a:spcAft>
              </a:pPr>
              <a:r>
                <a:rPr lang="en-US" sz="2400" dirty="0" smtClean="0"/>
                <a:t>https:www.amazon.com/</a:t>
              </a:r>
              <a:r>
                <a:rPr lang="en-US" sz="2400" dirty="0" err="1" smtClean="0"/>
                <a:t>dp</a:t>
              </a:r>
              <a:r>
                <a:rPr lang="en-US" sz="2400" dirty="0" smtClean="0"/>
                <a:t>/B0H7PJH99R</a:t>
              </a:r>
            </a:p>
          </p:txBody>
        </p:sp>
        <p:pic>
          <p:nvPicPr>
            <p:cNvPr id="16" name="Picture 15" descr="kindle.png"/>
            <p:cNvPicPr>
              <a:picLocks noChangeAspect="1"/>
            </p:cNvPicPr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4210967" y="8929688"/>
              <a:ext cx="769208" cy="457200"/>
            </a:xfrm>
            <a:prstGeom prst="rect">
              <a:avLst/>
            </a:prstGeom>
          </p:spPr>
        </p:pic>
        <p:pic>
          <p:nvPicPr>
            <p:cNvPr id="21" name="Picture 20" descr="linkedin.png"/>
            <p:cNvPicPr>
              <a:picLocks noChangeAspect="1"/>
            </p:cNvPicPr>
            <p:nvPr/>
          </p:nvPicPr>
          <p:blipFill>
            <a:blip r:embed="rId4" cstate="print"/>
            <a:stretch>
              <a:fillRect/>
            </a:stretch>
          </p:blipFill>
          <p:spPr>
            <a:xfrm>
              <a:off x="8586558" y="8693944"/>
              <a:ext cx="875270" cy="762000"/>
            </a:xfrm>
            <a:prstGeom prst="rect">
              <a:avLst/>
            </a:prstGeom>
          </p:spPr>
        </p:pic>
        <p:sp>
          <p:nvSpPr>
            <p:cNvPr id="22" name="TextBox 21"/>
            <p:cNvSpPr txBox="1"/>
            <p:nvPr/>
          </p:nvSpPr>
          <p:spPr>
            <a:xfrm>
              <a:off x="9500143" y="8851105"/>
              <a:ext cx="3080191" cy="66156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2000" dirty="0" smtClean="0"/>
                <a:t>www.linkedin.com/in/chisom-rosemary-akabueze</a:t>
              </a:r>
              <a:endParaRPr lang="en-US" sz="2000" dirty="0"/>
            </a:p>
          </p:txBody>
        </p:sp>
      </p:grpSp>
      <p:sp>
        <p:nvSpPr>
          <p:cNvPr id="2050" name="AutoShape 2" descr="Github Logo - Free social media icons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2052" name="AutoShape 4" descr="Github Logo - Free social media icons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pic>
        <p:nvPicPr>
          <p:cNvPr id="27" name="Picture 26" descr="github.png"/>
          <p:cNvPicPr>
            <a:picLocks noChangeAspect="1"/>
          </p:cNvPicPr>
          <p:nvPr/>
        </p:nvPicPr>
        <p:blipFill>
          <a:blip r:embed="rId5" cstate="print"/>
          <a:stretch>
            <a:fillRect/>
          </a:stretch>
        </p:blipFill>
        <p:spPr>
          <a:xfrm>
            <a:off x="9448800" y="7886700"/>
            <a:ext cx="783772" cy="609600"/>
          </a:xfrm>
          <a:prstGeom prst="rect">
            <a:avLst/>
          </a:prstGeom>
        </p:spPr>
      </p:pic>
      <p:sp>
        <p:nvSpPr>
          <p:cNvPr id="28" name="TextBox 27"/>
          <p:cNvSpPr txBox="1"/>
          <p:nvPr/>
        </p:nvSpPr>
        <p:spPr>
          <a:xfrm>
            <a:off x="10515600" y="7810500"/>
            <a:ext cx="480060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 smtClean="0"/>
              <a:t>https://rosemarychisom375.github.io/Personal-Portfolio-Site/</a:t>
            </a:r>
            <a:endParaRPr lang="en-US" sz="2000" dirty="0"/>
          </a:p>
        </p:txBody>
      </p:sp>
      <p:pic>
        <p:nvPicPr>
          <p:cNvPr id="29" name="Picture 28" descr="github.png"/>
          <p:cNvPicPr>
            <a:picLocks noChangeAspect="1"/>
          </p:cNvPicPr>
          <p:nvPr/>
        </p:nvPicPr>
        <p:blipFill>
          <a:blip r:embed="rId5" cstate="print"/>
          <a:stretch>
            <a:fillRect/>
          </a:stretch>
        </p:blipFill>
        <p:spPr>
          <a:xfrm>
            <a:off x="2286000" y="7734300"/>
            <a:ext cx="762000" cy="762000"/>
          </a:xfrm>
          <a:prstGeom prst="rect">
            <a:avLst/>
          </a:prstGeom>
        </p:spPr>
      </p:pic>
      <p:sp>
        <p:nvSpPr>
          <p:cNvPr id="30" name="TextBox 29"/>
          <p:cNvSpPr txBox="1"/>
          <p:nvPr/>
        </p:nvSpPr>
        <p:spPr>
          <a:xfrm>
            <a:off x="3810000" y="7886700"/>
            <a:ext cx="4343400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 smtClean="0"/>
              <a:t>https://</a:t>
            </a:r>
            <a:r>
              <a:rPr lang="en-US" sz="2100" dirty="0" smtClean="0"/>
              <a:t>rosemarychisom375.github.io/Skill2Bridge-Demo</a:t>
            </a:r>
            <a:r>
              <a:rPr lang="en-US" sz="2000" dirty="0" smtClean="0"/>
              <a:t>/</a:t>
            </a:r>
            <a:endParaRPr lang="en-US" sz="2000" dirty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219456"/>
            <a:ext cx="164592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5200" b="1" dirty="0">
                <a:solidFill>
                  <a:schemeClr val="bg1"/>
                </a:solidFill>
              </a:rPr>
              <a:t>Feasibility of the Proposed Solution</a:t>
            </a:r>
            <a:endParaRPr lang="en-US" sz="5200" dirty="0"/>
          </a:p>
        </p:txBody>
      </p:sp>
      <p:sp>
        <p:nvSpPr>
          <p:cNvPr id="3" name="Card Practicality (tech and timeline)"/>
          <p:cNvSpPr/>
          <p:nvPr/>
        </p:nvSpPr>
        <p:spPr>
          <a:xfrm>
            <a:off x="914400" y="2194560"/>
            <a:ext cx="8046720" cy="7040880"/>
          </a:xfrm>
          <a:prstGeom prst="rect">
            <a:avLst/>
          </a:prstGeom>
          <a:solidFill>
            <a:schemeClr val="bg1"/>
          </a:solidFill>
          <a:ln w="9525">
            <a:solidFill>
              <a:srgbClr val="D8DEE6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914400" y="2194560"/>
            <a:ext cx="146304" cy="7040880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1280160" y="2340864"/>
            <a:ext cx="7498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3000" b="1" dirty="0">
                <a:solidFill>
                  <a:schemeClr val="tx2"/>
                </a:solidFill>
              </a:rPr>
              <a:t>Practicality (tech and timeline)</a:t>
            </a:r>
            <a:endParaRPr lang="en-US" sz="3000" dirty="0"/>
          </a:p>
        </p:txBody>
      </p:sp>
      <p:sp>
        <p:nvSpPr>
          <p:cNvPr id="6" name="Text 4"/>
          <p:cNvSpPr txBox="1"/>
          <p:nvPr/>
        </p:nvSpPr>
        <p:spPr>
          <a:xfrm>
            <a:off x="1280160" y="2926080"/>
            <a:ext cx="7498080" cy="61630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685800" indent="-685800">
              <a:spcAft>
                <a:spcPts val="600"/>
              </a:spcAft>
              <a:buSzPct val="100000"/>
              <a:buChar char="•"/>
            </a:pPr>
            <a:r>
              <a:rPr lang="en-US" sz="2600" dirty="0"/>
              <a:t>Phase 1 (Months 1-2): build website, content and </a:t>
            </a:r>
            <a:r>
              <a:rPr lang="en-US" sz="2600" dirty="0" smtClean="0"/>
              <a:t>brand.</a:t>
            </a:r>
            <a:endParaRPr lang="en-US" sz="2600" dirty="0"/>
          </a:p>
          <a:p>
            <a:pPr marL="685800" indent="-685800">
              <a:spcAft>
                <a:spcPts val="600"/>
              </a:spcAft>
              <a:buSzPct val="100000"/>
              <a:buChar char="•"/>
            </a:pPr>
            <a:r>
              <a:rPr lang="en-US" sz="2600" dirty="0"/>
              <a:t>Phase 2 (Months 3-4): pilot with </a:t>
            </a:r>
            <a:r>
              <a:rPr lang="en-US" sz="2600" dirty="0" smtClean="0"/>
              <a:t>at least 30 final year students </a:t>
            </a:r>
            <a:r>
              <a:rPr lang="en-US" sz="2600" dirty="0"/>
              <a:t>in </a:t>
            </a:r>
            <a:r>
              <a:rPr lang="en-US" sz="2600" dirty="0" smtClean="0"/>
              <a:t>Enugu study center.</a:t>
            </a:r>
            <a:endParaRPr lang="en-US" sz="2600" dirty="0"/>
          </a:p>
          <a:p>
            <a:pPr marL="685800" indent="-685800">
              <a:spcAft>
                <a:spcPts val="600"/>
              </a:spcAft>
              <a:buSzPct val="100000"/>
              <a:buChar char="•"/>
            </a:pPr>
            <a:r>
              <a:rPr lang="en-US" sz="2600" dirty="0"/>
              <a:t>Phase 3 (Months 5-6): refine, launch publicly, add paid </a:t>
            </a:r>
            <a:r>
              <a:rPr lang="en-US" sz="2600" dirty="0" smtClean="0"/>
              <a:t>services.</a:t>
            </a:r>
            <a:endParaRPr lang="en-US" sz="2600" dirty="0"/>
          </a:p>
          <a:p>
            <a:pPr marL="685800" indent="-685800">
              <a:spcAft>
                <a:spcPts val="600"/>
              </a:spcAft>
              <a:buSzPct val="100000"/>
              <a:buChar char="•"/>
            </a:pPr>
            <a:r>
              <a:rPr lang="en-US" sz="2600" dirty="0"/>
              <a:t>Built on proven, low-cost tools (cloud hosting, free and open platforms)</a:t>
            </a:r>
          </a:p>
          <a:p>
            <a:pPr marL="685800" indent="-685800">
              <a:spcAft>
                <a:spcPts val="600"/>
              </a:spcAft>
              <a:buSzPct val="100000"/>
              <a:buChar char="•"/>
            </a:pPr>
            <a:r>
              <a:rPr lang="en-US" sz="2600" dirty="0"/>
              <a:t>Founder skills in IT, networking, web development and </a:t>
            </a:r>
            <a:r>
              <a:rPr lang="en-US" sz="2600" dirty="0" smtClean="0"/>
              <a:t>AI.</a:t>
            </a:r>
            <a:endParaRPr lang="en-US" sz="2600" dirty="0"/>
          </a:p>
        </p:txBody>
      </p:sp>
      <p:sp>
        <p:nvSpPr>
          <p:cNvPr id="7" name="Card Implementation (team and partners)"/>
          <p:cNvSpPr/>
          <p:nvPr/>
        </p:nvSpPr>
        <p:spPr>
          <a:xfrm>
            <a:off x="9326880" y="2194560"/>
            <a:ext cx="8046720" cy="7040880"/>
          </a:xfrm>
          <a:prstGeom prst="rect">
            <a:avLst/>
          </a:prstGeom>
          <a:solidFill>
            <a:schemeClr val="bg1"/>
          </a:solidFill>
          <a:ln w="9525">
            <a:solidFill>
              <a:srgbClr val="D8DEE6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9326880" y="2194560"/>
            <a:ext cx="146304" cy="7040880"/>
          </a:xfrm>
          <a:prstGeom prst="rect">
            <a:avLst/>
          </a:prstGeom>
          <a:solidFill>
            <a:schemeClr val="accent2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9692640" y="2340864"/>
            <a:ext cx="7498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3000" b="1" dirty="0">
                <a:solidFill>
                  <a:schemeClr val="tx2"/>
                </a:solidFill>
              </a:rPr>
              <a:t>Implementation (team and partners)</a:t>
            </a:r>
            <a:endParaRPr lang="en-US" sz="3000" dirty="0"/>
          </a:p>
        </p:txBody>
      </p:sp>
      <p:sp>
        <p:nvSpPr>
          <p:cNvPr id="10" name="Text 8"/>
          <p:cNvSpPr txBox="1"/>
          <p:nvPr/>
        </p:nvSpPr>
        <p:spPr>
          <a:xfrm>
            <a:off x="9692640" y="2926080"/>
            <a:ext cx="7498080" cy="61630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685800" indent="-685800">
              <a:spcAft>
                <a:spcPts val="600"/>
              </a:spcAft>
              <a:buSzPct val="100000"/>
              <a:buChar char="•"/>
            </a:pPr>
            <a:r>
              <a:rPr lang="en-US" sz="2600" dirty="0"/>
              <a:t>Founder-led with technical and mentorship </a:t>
            </a:r>
            <a:r>
              <a:rPr lang="en-US" sz="2600" dirty="0" smtClean="0"/>
              <a:t>experience.</a:t>
            </a:r>
            <a:endParaRPr lang="en-US" sz="2600" dirty="0"/>
          </a:p>
          <a:p>
            <a:pPr marL="685800" indent="-685800">
              <a:spcAft>
                <a:spcPts val="600"/>
              </a:spcAft>
              <a:buSzPct val="100000"/>
              <a:buChar char="•"/>
            </a:pPr>
            <a:r>
              <a:rPr lang="en-US" sz="2600" dirty="0"/>
              <a:t>Volunteer mentors and industry professionals</a:t>
            </a:r>
          </a:p>
          <a:p>
            <a:pPr marL="685800" indent="-685800">
              <a:spcAft>
                <a:spcPts val="600"/>
              </a:spcAft>
              <a:buSzPct val="100000"/>
              <a:buChar char="•"/>
            </a:pPr>
            <a:r>
              <a:rPr lang="en-US" sz="2600" dirty="0"/>
              <a:t>Partners: study centres, polytechnics, tech hubs, youth NGOs</a:t>
            </a:r>
          </a:p>
          <a:p>
            <a:pPr marL="685800" indent="-685800">
              <a:spcAft>
                <a:spcPts val="600"/>
              </a:spcAft>
              <a:buSzPct val="100000"/>
              <a:buChar char="•"/>
            </a:pPr>
            <a:r>
              <a:rPr lang="en-US" sz="2600" dirty="0"/>
              <a:t>Existing community </a:t>
            </a:r>
            <a:r>
              <a:rPr lang="en-US" sz="2600" dirty="0" smtClean="0"/>
              <a:t>outreach.</a:t>
            </a:r>
            <a:endParaRPr lang="en-US" sz="2600" dirty="0"/>
          </a:p>
          <a:p>
            <a:pPr marL="685800" indent="-685800">
              <a:spcAft>
                <a:spcPts val="600"/>
              </a:spcAft>
              <a:buSzPct val="100000"/>
              <a:buChar char="•"/>
            </a:pPr>
            <a:r>
              <a:rPr lang="en-US" sz="2600" dirty="0"/>
              <a:t>Collaborations give access to learners at low acquisition </a:t>
            </a:r>
            <a:r>
              <a:rPr lang="en-US" sz="2600" dirty="0" smtClean="0"/>
              <a:t>cost.</a:t>
            </a:r>
            <a:endParaRPr lang="en-US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6642080" y="9656064"/>
            <a:ext cx="731520" cy="4572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800">
                <a:solidFill>
                  <a:schemeClr val="accent6"/>
                </a:solidFill>
              </a:defRPr>
            </a:lvl1pPr>
          </a:lstStyle>
          <a:p>
            <a:pPr algn="l"/>
            <a:fld id="{F7021451-1387-4CA6-816F-3879F97B5CBC}" type="slidenum">
              <a:rPr lang="en-US" b="0"/>
              <a:pPr algn="l"/>
              <a:t>4</a:t>
            </a:fld>
            <a:endParaRPr lang="en-US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219456"/>
            <a:ext cx="164592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5200" b="1" dirty="0">
                <a:solidFill>
                  <a:schemeClr val="bg1"/>
                </a:solidFill>
              </a:rPr>
              <a:t>SWOT Analysis</a:t>
            </a:r>
            <a:endParaRPr lang="en-US" sz="5200" dirty="0"/>
          </a:p>
        </p:txBody>
      </p:sp>
      <p:sp>
        <p:nvSpPr>
          <p:cNvPr id="3" name="Card Strengths"/>
          <p:cNvSpPr/>
          <p:nvPr/>
        </p:nvSpPr>
        <p:spPr>
          <a:xfrm>
            <a:off x="914400" y="2194560"/>
            <a:ext cx="3931920" cy="4297680"/>
          </a:xfrm>
          <a:prstGeom prst="rect">
            <a:avLst/>
          </a:prstGeom>
          <a:solidFill>
            <a:schemeClr val="bg1"/>
          </a:solidFill>
          <a:ln w="9525">
            <a:solidFill>
              <a:srgbClr val="D8DEE6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914400" y="2194560"/>
            <a:ext cx="146304" cy="4297680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1280160" y="2340864"/>
            <a:ext cx="3383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2800" b="1" dirty="0">
                <a:solidFill>
                  <a:schemeClr val="tx2"/>
                </a:solidFill>
              </a:rPr>
              <a:t>Strengths</a:t>
            </a:r>
            <a:endParaRPr lang="en-US" sz="2800" dirty="0"/>
          </a:p>
        </p:txBody>
      </p:sp>
      <p:sp>
        <p:nvSpPr>
          <p:cNvPr id="6" name="Text 4"/>
          <p:cNvSpPr txBox="1"/>
          <p:nvPr/>
        </p:nvSpPr>
        <p:spPr>
          <a:xfrm>
            <a:off x="1280160" y="2926080"/>
            <a:ext cx="3383280" cy="34198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685800" indent="-685800">
              <a:spcAft>
                <a:spcPts val="600"/>
              </a:spcAft>
              <a:buSzPct val="100000"/>
              <a:buChar char="•"/>
            </a:pPr>
            <a:r>
              <a:rPr lang="en-US" sz="2600" dirty="0"/>
              <a:t>Practical, portfolio-first model</a:t>
            </a:r>
          </a:p>
          <a:p>
            <a:pPr marL="685800" indent="-685800">
              <a:spcAft>
                <a:spcPts val="600"/>
              </a:spcAft>
              <a:buSzPct val="100000"/>
              <a:buChar char="•"/>
            </a:pPr>
            <a:r>
              <a:rPr lang="en-US" sz="2600" dirty="0"/>
              <a:t>Founder tech and training skills</a:t>
            </a:r>
          </a:p>
          <a:p>
            <a:pPr marL="685800" indent="-685800">
              <a:spcAft>
                <a:spcPts val="600"/>
              </a:spcAft>
              <a:buSzPct val="100000"/>
              <a:buChar char="•"/>
            </a:pPr>
            <a:r>
              <a:rPr lang="en-US" sz="2600" dirty="0"/>
              <a:t>Low operating cost</a:t>
            </a:r>
          </a:p>
        </p:txBody>
      </p:sp>
      <p:sp>
        <p:nvSpPr>
          <p:cNvPr id="7" name="Card Weaknesses"/>
          <p:cNvSpPr/>
          <p:nvPr/>
        </p:nvSpPr>
        <p:spPr>
          <a:xfrm>
            <a:off x="5029200" y="2194560"/>
            <a:ext cx="3931920" cy="4297680"/>
          </a:xfrm>
          <a:prstGeom prst="rect">
            <a:avLst/>
          </a:prstGeom>
          <a:solidFill>
            <a:schemeClr val="bg1"/>
          </a:solidFill>
          <a:ln w="9525">
            <a:solidFill>
              <a:srgbClr val="D8DEE6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029200" y="2194560"/>
            <a:ext cx="146304" cy="4297680"/>
          </a:xfrm>
          <a:prstGeom prst="rect">
            <a:avLst/>
          </a:prstGeom>
          <a:solidFill>
            <a:schemeClr val="accent4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5394960" y="2340864"/>
            <a:ext cx="3383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2800" b="1" dirty="0">
                <a:solidFill>
                  <a:schemeClr val="tx2"/>
                </a:solidFill>
              </a:rPr>
              <a:t>Weaknesses</a:t>
            </a:r>
            <a:endParaRPr lang="en-US" sz="2800" dirty="0"/>
          </a:p>
        </p:txBody>
      </p:sp>
      <p:sp>
        <p:nvSpPr>
          <p:cNvPr id="10" name="Text 8"/>
          <p:cNvSpPr txBox="1"/>
          <p:nvPr/>
        </p:nvSpPr>
        <p:spPr>
          <a:xfrm>
            <a:off x="5394960" y="2926080"/>
            <a:ext cx="3383280" cy="34198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685800" indent="-685800">
              <a:spcAft>
                <a:spcPts val="600"/>
              </a:spcAft>
              <a:buSzPct val="100000"/>
              <a:buChar char="•"/>
            </a:pPr>
            <a:r>
              <a:rPr lang="en-US" sz="2600" dirty="0"/>
              <a:t>Limited start-up capital</a:t>
            </a:r>
          </a:p>
          <a:p>
            <a:pPr marL="685800" indent="-685800">
              <a:spcAft>
                <a:spcPts val="600"/>
              </a:spcAft>
              <a:buSzPct val="100000"/>
              <a:buChar char="•"/>
            </a:pPr>
            <a:r>
              <a:rPr lang="en-US" sz="2600" dirty="0"/>
              <a:t>New brand, little awareness</a:t>
            </a:r>
          </a:p>
          <a:p>
            <a:pPr marL="685800" indent="-685800">
              <a:spcAft>
                <a:spcPts val="600"/>
              </a:spcAft>
              <a:buSzPct val="100000"/>
              <a:buChar char="•"/>
            </a:pPr>
            <a:r>
              <a:rPr lang="en-US" sz="2600" dirty="0"/>
              <a:t>Dependence on internet access</a:t>
            </a:r>
          </a:p>
        </p:txBody>
      </p:sp>
      <p:sp>
        <p:nvSpPr>
          <p:cNvPr id="11" name="Card Opportunities"/>
          <p:cNvSpPr/>
          <p:nvPr/>
        </p:nvSpPr>
        <p:spPr>
          <a:xfrm>
            <a:off x="9326880" y="2194560"/>
            <a:ext cx="3931920" cy="4297680"/>
          </a:xfrm>
          <a:prstGeom prst="rect">
            <a:avLst/>
          </a:prstGeom>
          <a:solidFill>
            <a:schemeClr val="bg1"/>
          </a:solidFill>
          <a:ln w="9525">
            <a:solidFill>
              <a:srgbClr val="D8DEE6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9326880" y="2194560"/>
            <a:ext cx="146304" cy="4297680"/>
          </a:xfrm>
          <a:prstGeom prst="rect">
            <a:avLst/>
          </a:prstGeom>
          <a:solidFill>
            <a:schemeClr val="accent5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9692640" y="2340864"/>
            <a:ext cx="3383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2800" b="1" dirty="0">
                <a:solidFill>
                  <a:schemeClr val="tx2"/>
                </a:solidFill>
              </a:rPr>
              <a:t>Opportunities</a:t>
            </a:r>
            <a:endParaRPr lang="en-US" sz="2800" dirty="0"/>
          </a:p>
        </p:txBody>
      </p:sp>
      <p:sp>
        <p:nvSpPr>
          <p:cNvPr id="14" name="Text 12"/>
          <p:cNvSpPr txBox="1"/>
          <p:nvPr/>
        </p:nvSpPr>
        <p:spPr>
          <a:xfrm>
            <a:off x="9692640" y="2926080"/>
            <a:ext cx="3383280" cy="34198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685800" indent="-685800">
              <a:spcAft>
                <a:spcPts val="600"/>
              </a:spcAft>
              <a:buSzPct val="100000"/>
              <a:buChar char="•"/>
            </a:pPr>
            <a:r>
              <a:rPr lang="en-US" sz="2600" dirty="0"/>
              <a:t>Large youth unemployment</a:t>
            </a:r>
          </a:p>
          <a:p>
            <a:pPr marL="685800" indent="-685800">
              <a:spcAft>
                <a:spcPts val="600"/>
              </a:spcAft>
              <a:buSzPct val="100000"/>
              <a:buChar char="•"/>
            </a:pPr>
            <a:r>
              <a:rPr lang="en-US" sz="2600" dirty="0"/>
              <a:t>Growing remote and AI jobs</a:t>
            </a:r>
          </a:p>
          <a:p>
            <a:pPr marL="685800" indent="-685800">
              <a:spcAft>
                <a:spcPts val="600"/>
              </a:spcAft>
              <a:buSzPct val="100000"/>
              <a:buChar char="•"/>
            </a:pPr>
            <a:r>
              <a:rPr lang="en-US" sz="2600" dirty="0"/>
              <a:t>Partnerships and grants</a:t>
            </a:r>
          </a:p>
        </p:txBody>
      </p:sp>
      <p:sp>
        <p:nvSpPr>
          <p:cNvPr id="15" name="Card Threats"/>
          <p:cNvSpPr/>
          <p:nvPr/>
        </p:nvSpPr>
        <p:spPr>
          <a:xfrm>
            <a:off x="13441680" y="2194560"/>
            <a:ext cx="3931920" cy="4297680"/>
          </a:xfrm>
          <a:prstGeom prst="rect">
            <a:avLst/>
          </a:prstGeom>
          <a:solidFill>
            <a:schemeClr val="bg1"/>
          </a:solidFill>
          <a:ln w="9525">
            <a:solidFill>
              <a:srgbClr val="D8DEE6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3441680" y="2194560"/>
            <a:ext cx="146304" cy="4297680"/>
          </a:xfrm>
          <a:prstGeom prst="rect">
            <a:avLst/>
          </a:prstGeom>
          <a:solidFill>
            <a:schemeClr val="accent2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13807440" y="2340864"/>
            <a:ext cx="3383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2800" b="1" dirty="0">
                <a:solidFill>
                  <a:schemeClr val="tx2"/>
                </a:solidFill>
              </a:rPr>
              <a:t>Threats</a:t>
            </a:r>
            <a:endParaRPr lang="en-US" sz="2800" dirty="0"/>
          </a:p>
        </p:txBody>
      </p:sp>
      <p:sp>
        <p:nvSpPr>
          <p:cNvPr id="18" name="Text 16"/>
          <p:cNvSpPr txBox="1"/>
          <p:nvPr/>
        </p:nvSpPr>
        <p:spPr>
          <a:xfrm>
            <a:off x="13807440" y="2926080"/>
            <a:ext cx="3383280" cy="34198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685800" indent="-685800">
              <a:spcAft>
                <a:spcPts val="600"/>
              </a:spcAft>
              <a:buSzPct val="100000"/>
              <a:buChar char="•"/>
            </a:pPr>
            <a:r>
              <a:rPr lang="en-US" sz="2600" dirty="0"/>
              <a:t>Free online </a:t>
            </a:r>
            <a:r>
              <a:rPr lang="en-US" sz="2600" dirty="0" smtClean="0"/>
              <a:t>courses.</a:t>
            </a:r>
            <a:endParaRPr lang="en-US" sz="2600" dirty="0"/>
          </a:p>
          <a:p>
            <a:pPr marL="685800" indent="-685800">
              <a:spcAft>
                <a:spcPts val="600"/>
              </a:spcAft>
              <a:buSzPct val="100000"/>
              <a:buChar char="•"/>
            </a:pPr>
            <a:r>
              <a:rPr lang="en-US" sz="2600" dirty="0"/>
              <a:t>Data cost and power </a:t>
            </a:r>
            <a:r>
              <a:rPr lang="en-US" sz="2600" dirty="0" smtClean="0"/>
              <a:t>issues.</a:t>
            </a:r>
            <a:endParaRPr lang="en-US" sz="2600" dirty="0"/>
          </a:p>
          <a:p>
            <a:pPr marL="685800" indent="-685800">
              <a:spcAft>
                <a:spcPts val="600"/>
              </a:spcAft>
              <a:buSzPct val="100000"/>
              <a:buChar char="•"/>
            </a:pPr>
            <a:r>
              <a:rPr lang="en-US" sz="2600" dirty="0"/>
              <a:t>Economic pressure on </a:t>
            </a:r>
            <a:r>
              <a:rPr lang="en-US" sz="2600" dirty="0" smtClean="0"/>
              <a:t>learners.</a:t>
            </a:r>
            <a:endParaRPr lang="en-US" sz="2600" dirty="0"/>
          </a:p>
        </p:txBody>
      </p:sp>
      <p:sp>
        <p:nvSpPr>
          <p:cNvPr id="19" name="Competitive advantage band"/>
          <p:cNvSpPr/>
          <p:nvPr/>
        </p:nvSpPr>
        <p:spPr>
          <a:xfrm>
            <a:off x="914400" y="6858000"/>
            <a:ext cx="16459200" cy="2377440"/>
          </a:xfrm>
          <a:prstGeom prst="rect">
            <a:avLst/>
          </a:prstGeom>
          <a:solidFill>
            <a:schemeClr val="tx2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1280160" y="6949440"/>
            <a:ext cx="1572768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3000" b="1" dirty="0">
                <a:solidFill>
                  <a:schemeClr val="accent2"/>
                </a:solidFill>
              </a:rPr>
              <a:t>Competitive </a:t>
            </a:r>
            <a:r>
              <a:rPr lang="en-US" sz="3000" b="1" dirty="0" smtClean="0">
                <a:solidFill>
                  <a:schemeClr val="accent2"/>
                </a:solidFill>
              </a:rPr>
              <a:t>Edge</a:t>
            </a:r>
            <a:endParaRPr lang="en-US" sz="3000" dirty="0"/>
          </a:p>
          <a:p>
            <a:r>
              <a:rPr lang="en-US" sz="2800" dirty="0" smtClean="0">
                <a:solidFill>
                  <a:schemeClr val="bg1"/>
                </a:solidFill>
              </a:rPr>
              <a:t>Combining low operational expenses with practical, technical expertise to deliver highly relevant training.</a:t>
            </a:r>
            <a:endParaRPr lang="en-US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6642080" y="9656064"/>
            <a:ext cx="731520" cy="4572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800">
                <a:solidFill>
                  <a:schemeClr val="accent6"/>
                </a:solidFill>
              </a:defRPr>
            </a:lvl1pPr>
          </a:lstStyle>
          <a:p>
            <a:pPr algn="l"/>
            <a:fld id="{F7021451-1387-4CA6-816F-3879F97B5CBC}" type="slidenum">
              <a:rPr lang="en-US" b="0"/>
              <a:pPr algn="l"/>
              <a:t>5</a:t>
            </a:fld>
            <a:endParaRPr lang="en-US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219456"/>
            <a:ext cx="164592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5200" b="1" dirty="0">
                <a:solidFill>
                  <a:schemeClr val="bg1"/>
                </a:solidFill>
              </a:rPr>
              <a:t>Key Activities</a:t>
            </a:r>
            <a:endParaRPr lang="en-US" sz="5200" dirty="0"/>
          </a:p>
        </p:txBody>
      </p:sp>
      <p:sp>
        <p:nvSpPr>
          <p:cNvPr id="3" name="Card Value Delivery"/>
          <p:cNvSpPr/>
          <p:nvPr/>
        </p:nvSpPr>
        <p:spPr>
          <a:xfrm>
            <a:off x="914400" y="2194560"/>
            <a:ext cx="5303520" cy="4549140"/>
          </a:xfrm>
          <a:prstGeom prst="rect">
            <a:avLst/>
          </a:prstGeom>
          <a:solidFill>
            <a:schemeClr val="bg1"/>
          </a:solidFill>
          <a:ln w="9525">
            <a:solidFill>
              <a:srgbClr val="D8DEE6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914400" y="2194560"/>
            <a:ext cx="146304" cy="4549140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1280160" y="2340863"/>
            <a:ext cx="4754880" cy="35447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3000" b="1" dirty="0">
                <a:solidFill>
                  <a:schemeClr val="tx2"/>
                </a:solidFill>
              </a:rPr>
              <a:t>Value Delivery</a:t>
            </a:r>
            <a:endParaRPr lang="en-US" sz="3000" dirty="0"/>
          </a:p>
        </p:txBody>
      </p:sp>
      <p:sp>
        <p:nvSpPr>
          <p:cNvPr id="6" name="Text 4"/>
          <p:cNvSpPr txBox="1"/>
          <p:nvPr/>
        </p:nvSpPr>
        <p:spPr>
          <a:xfrm>
            <a:off x="1280160" y="2926080"/>
            <a:ext cx="4754880" cy="38176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685800" indent="-685800">
              <a:spcAft>
                <a:spcPts val="600"/>
              </a:spcAft>
              <a:buSzPct val="100000"/>
              <a:buChar char="•"/>
            </a:pPr>
            <a:r>
              <a:rPr lang="en-US" sz="2600" dirty="0"/>
              <a:t>Digital and AI skills training</a:t>
            </a:r>
          </a:p>
          <a:p>
            <a:pPr marL="685800" indent="-685800">
              <a:spcAft>
                <a:spcPts val="600"/>
              </a:spcAft>
              <a:buSzPct val="100000"/>
              <a:buChar char="•"/>
            </a:pPr>
            <a:r>
              <a:rPr lang="en-US" sz="2600" dirty="0"/>
              <a:t>Career guidance and CV </a:t>
            </a:r>
            <a:r>
              <a:rPr lang="en-US" sz="2600" dirty="0" smtClean="0"/>
              <a:t>optimization</a:t>
            </a:r>
            <a:endParaRPr lang="en-US" sz="2600" dirty="0"/>
          </a:p>
          <a:p>
            <a:pPr marL="685800" indent="-685800">
              <a:spcAft>
                <a:spcPts val="600"/>
              </a:spcAft>
              <a:buSzPct val="100000"/>
              <a:buChar char="•"/>
            </a:pPr>
            <a:r>
              <a:rPr lang="en-US" sz="2600" dirty="0"/>
              <a:t>Mentorship matching</a:t>
            </a:r>
          </a:p>
          <a:p>
            <a:pPr marL="685800" indent="-685800">
              <a:spcAft>
                <a:spcPts val="600"/>
              </a:spcAft>
              <a:buSzPct val="100000"/>
              <a:buChar char="•"/>
            </a:pPr>
            <a:r>
              <a:rPr lang="en-US" sz="2600" dirty="0"/>
              <a:t>Real-world projects</a:t>
            </a:r>
          </a:p>
          <a:p>
            <a:pPr marL="685800" indent="-685800">
              <a:spcAft>
                <a:spcPts val="600"/>
              </a:spcAft>
              <a:buSzPct val="100000"/>
              <a:buChar char="•"/>
            </a:pPr>
            <a:r>
              <a:rPr lang="en-US" sz="2600" dirty="0"/>
              <a:t>Portfolio development</a:t>
            </a:r>
          </a:p>
          <a:p>
            <a:pPr marL="685800" indent="-685800">
              <a:spcAft>
                <a:spcPts val="600"/>
              </a:spcAft>
              <a:buSzPct val="100000"/>
              <a:buChar char="•"/>
            </a:pPr>
            <a:r>
              <a:rPr lang="en-US" sz="2600" dirty="0"/>
              <a:t>Entrepreneurship coaching</a:t>
            </a:r>
          </a:p>
        </p:txBody>
      </p:sp>
      <p:sp>
        <p:nvSpPr>
          <p:cNvPr id="7" name="Card Client Outreach"/>
          <p:cNvSpPr/>
          <p:nvPr/>
        </p:nvSpPr>
        <p:spPr>
          <a:xfrm>
            <a:off x="6492240" y="2194559"/>
            <a:ext cx="5303520" cy="4535483"/>
          </a:xfrm>
          <a:prstGeom prst="rect">
            <a:avLst/>
          </a:prstGeom>
          <a:solidFill>
            <a:schemeClr val="bg1"/>
          </a:solidFill>
          <a:ln w="9525">
            <a:solidFill>
              <a:srgbClr val="D8DEE6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492240" y="2194559"/>
            <a:ext cx="146304" cy="4535483"/>
          </a:xfrm>
          <a:prstGeom prst="rect">
            <a:avLst/>
          </a:prstGeom>
          <a:solidFill>
            <a:schemeClr val="accent5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6858000" y="2340864"/>
            <a:ext cx="4754880" cy="3534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3000" b="1" dirty="0">
                <a:solidFill>
                  <a:schemeClr val="tx2"/>
                </a:solidFill>
              </a:rPr>
              <a:t>Client Outreach</a:t>
            </a:r>
            <a:endParaRPr lang="en-US" sz="3000" dirty="0"/>
          </a:p>
        </p:txBody>
      </p:sp>
      <p:sp>
        <p:nvSpPr>
          <p:cNvPr id="10" name="Text 8"/>
          <p:cNvSpPr txBox="1"/>
          <p:nvPr/>
        </p:nvSpPr>
        <p:spPr>
          <a:xfrm>
            <a:off x="6858000" y="2926080"/>
            <a:ext cx="4754880" cy="39700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685800" indent="-685800">
              <a:spcAft>
                <a:spcPts val="600"/>
              </a:spcAft>
              <a:buSzPct val="100000"/>
              <a:buChar char="•"/>
            </a:pPr>
            <a:r>
              <a:rPr lang="en-US" sz="2600" dirty="0"/>
              <a:t>Campus and study-centre talks</a:t>
            </a:r>
          </a:p>
          <a:p>
            <a:pPr marL="685800" indent="-685800">
              <a:spcAft>
                <a:spcPts val="600"/>
              </a:spcAft>
              <a:buSzPct val="100000"/>
              <a:buChar char="•"/>
            </a:pPr>
            <a:r>
              <a:rPr lang="en-US" sz="2600" dirty="0"/>
              <a:t>Social media and WhatsApp communities</a:t>
            </a:r>
          </a:p>
          <a:p>
            <a:pPr marL="685800" indent="-685800">
              <a:spcAft>
                <a:spcPts val="600"/>
              </a:spcAft>
              <a:buSzPct val="100000"/>
              <a:buChar char="•"/>
            </a:pPr>
            <a:r>
              <a:rPr lang="en-US" sz="2600" dirty="0"/>
              <a:t>Partnerships with institutions and NGOs</a:t>
            </a:r>
          </a:p>
          <a:p>
            <a:pPr marL="685800" indent="-685800">
              <a:spcAft>
                <a:spcPts val="600"/>
              </a:spcAft>
              <a:buSzPct val="100000"/>
              <a:buChar char="•"/>
            </a:pPr>
            <a:r>
              <a:rPr lang="en-US" sz="2600" dirty="0"/>
              <a:t>Referral and alumni network</a:t>
            </a:r>
          </a:p>
          <a:p>
            <a:pPr marL="685800" indent="-685800">
              <a:spcAft>
                <a:spcPts val="600"/>
              </a:spcAft>
              <a:buSzPct val="100000"/>
              <a:buChar char="•"/>
            </a:pPr>
            <a:r>
              <a:rPr lang="en-US" sz="2600" dirty="0"/>
              <a:t>Free webinars as entry point</a:t>
            </a:r>
          </a:p>
        </p:txBody>
      </p:sp>
      <p:sp>
        <p:nvSpPr>
          <p:cNvPr id="11" name="Card Revenue Generation"/>
          <p:cNvSpPr/>
          <p:nvPr/>
        </p:nvSpPr>
        <p:spPr>
          <a:xfrm>
            <a:off x="12070080" y="2194560"/>
            <a:ext cx="5303520" cy="4472940"/>
          </a:xfrm>
          <a:prstGeom prst="rect">
            <a:avLst/>
          </a:prstGeom>
          <a:solidFill>
            <a:schemeClr val="bg1"/>
          </a:solidFill>
          <a:ln w="9525">
            <a:solidFill>
              <a:srgbClr val="D8DEE6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2070080" y="2194560"/>
            <a:ext cx="146304" cy="4472940"/>
          </a:xfrm>
          <a:prstGeom prst="rect">
            <a:avLst/>
          </a:prstGeom>
          <a:solidFill>
            <a:schemeClr val="accent2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12435840" y="2340864"/>
            <a:ext cx="4754880" cy="3485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3000" b="1" dirty="0">
                <a:solidFill>
                  <a:schemeClr val="tx2"/>
                </a:solidFill>
              </a:rPr>
              <a:t>Revenue Generation</a:t>
            </a:r>
            <a:endParaRPr lang="en-US" sz="3000" dirty="0"/>
          </a:p>
        </p:txBody>
      </p:sp>
      <p:sp>
        <p:nvSpPr>
          <p:cNvPr id="14" name="Text 12"/>
          <p:cNvSpPr txBox="1"/>
          <p:nvPr/>
        </p:nvSpPr>
        <p:spPr>
          <a:xfrm>
            <a:off x="12435840" y="2926079"/>
            <a:ext cx="4754880" cy="39152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685800" indent="-685800">
              <a:spcAft>
                <a:spcPts val="600"/>
              </a:spcAft>
              <a:buSzPct val="100000"/>
              <a:buChar char="•"/>
            </a:pPr>
            <a:r>
              <a:rPr lang="en-US" sz="2600" dirty="0"/>
              <a:t>Pay-per-service student fees</a:t>
            </a:r>
          </a:p>
          <a:p>
            <a:pPr marL="685800" indent="-685800">
              <a:spcAft>
                <a:spcPts val="600"/>
              </a:spcAft>
              <a:buSzPct val="100000"/>
              <a:buChar char="•"/>
            </a:pPr>
            <a:r>
              <a:rPr lang="en-US" sz="2600" dirty="0"/>
              <a:t>Institutional cohort contracts</a:t>
            </a:r>
          </a:p>
          <a:p>
            <a:pPr marL="685800" indent="-685800">
              <a:spcAft>
                <a:spcPts val="600"/>
              </a:spcAft>
              <a:buSzPct val="100000"/>
              <a:buChar char="•"/>
            </a:pPr>
            <a:r>
              <a:rPr lang="en-US" sz="2600" dirty="0"/>
              <a:t>Portfolio and freelance project commissions</a:t>
            </a:r>
          </a:p>
          <a:p>
            <a:pPr marL="685800" indent="-685800">
              <a:spcAft>
                <a:spcPts val="600"/>
              </a:spcAft>
              <a:buSzPct val="100000"/>
              <a:buChar char="•"/>
            </a:pPr>
            <a:r>
              <a:rPr lang="en-US" sz="2600" dirty="0"/>
              <a:t>Sponsored training and grants</a:t>
            </a: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6642080" y="9656064"/>
            <a:ext cx="731520" cy="4572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800">
                <a:solidFill>
                  <a:schemeClr val="accent6"/>
                </a:solidFill>
              </a:defRPr>
            </a:lvl1pPr>
          </a:lstStyle>
          <a:p>
            <a:pPr algn="l"/>
            <a:fld id="{F7021451-1387-4CA6-816F-3879F97B5CBC}" type="slidenum">
              <a:rPr lang="en-US" b="0"/>
              <a:pPr algn="l"/>
              <a:t>6</a:t>
            </a:fld>
            <a:endParaRPr lang="en-US"/>
          </a:p>
        </p:txBody>
      </p:sp>
      <p:sp>
        <p:nvSpPr>
          <p:cNvPr id="18" name="Competitive advantage band"/>
          <p:cNvSpPr/>
          <p:nvPr/>
        </p:nvSpPr>
        <p:spPr>
          <a:xfrm>
            <a:off x="838200" y="7109460"/>
            <a:ext cx="16459200" cy="2377440"/>
          </a:xfrm>
          <a:prstGeom prst="rect">
            <a:avLst/>
          </a:prstGeom>
          <a:solidFill>
            <a:schemeClr val="tx2"/>
          </a:solidFill>
          <a:ln/>
        </p:spPr>
      </p:sp>
      <p:sp>
        <p:nvSpPr>
          <p:cNvPr id="19" name="Text 18"/>
          <p:cNvSpPr txBox="1"/>
          <p:nvPr/>
        </p:nvSpPr>
        <p:spPr>
          <a:xfrm>
            <a:off x="1203960" y="7200900"/>
            <a:ext cx="1572768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2800" b="1" dirty="0">
                <a:solidFill>
                  <a:schemeClr val="accent2"/>
                </a:solidFill>
              </a:rPr>
              <a:t>Competitive Advantage  </a:t>
            </a:r>
            <a:endParaRPr lang="en-US" sz="2800" dirty="0"/>
          </a:p>
          <a:p>
            <a:r>
              <a:rPr lang="en-US" sz="2400" dirty="0">
                <a:solidFill>
                  <a:schemeClr val="bg1"/>
                </a:solidFill>
              </a:rPr>
              <a:t>Local, affordable, mentor-led and </a:t>
            </a:r>
            <a:r>
              <a:rPr lang="en-US" sz="2400" dirty="0" smtClean="0">
                <a:solidFill>
                  <a:schemeClr val="bg1"/>
                </a:solidFill>
              </a:rPr>
              <a:t>outcome focused</a:t>
            </a:r>
            <a:r>
              <a:rPr lang="en-US" sz="2400" dirty="0">
                <a:solidFill>
                  <a:schemeClr val="bg1"/>
                </a:solidFill>
              </a:rPr>
              <a:t>: learners leave with real projects, a portfolio and a path to income, which most generic online courses do not provide.</a:t>
            </a:r>
            <a:endParaRPr lang="en-US" sz="2800" dirty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219456"/>
            <a:ext cx="164592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5200" b="1" dirty="0">
                <a:solidFill>
                  <a:schemeClr val="bg1"/>
                </a:solidFill>
              </a:rPr>
              <a:t>Financial Analysis</a:t>
            </a:r>
            <a:endParaRPr lang="en-US" sz="5200" dirty="0"/>
          </a:p>
        </p:txBody>
      </p:sp>
      <p:sp>
        <p:nvSpPr>
          <p:cNvPr id="3" name="Card 1. Monthly Costs (about N250,000)"/>
          <p:cNvSpPr/>
          <p:nvPr/>
        </p:nvSpPr>
        <p:spPr>
          <a:xfrm>
            <a:off x="914400" y="2194560"/>
            <a:ext cx="5303520" cy="3566160"/>
          </a:xfrm>
          <a:prstGeom prst="rect">
            <a:avLst/>
          </a:prstGeom>
          <a:solidFill>
            <a:schemeClr val="bg1"/>
          </a:solidFill>
          <a:ln w="9525">
            <a:solidFill>
              <a:srgbClr val="D8DEE6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914400" y="2194560"/>
            <a:ext cx="146304" cy="3566160"/>
          </a:xfrm>
          <a:prstGeom prst="rect">
            <a:avLst/>
          </a:prstGeom>
          <a:solidFill>
            <a:schemeClr val="accent4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1280160" y="2340864"/>
            <a:ext cx="4754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2400" b="1" dirty="0">
                <a:solidFill>
                  <a:schemeClr val="tx2"/>
                </a:solidFill>
              </a:rPr>
              <a:t>1. Monthly Costs (about N250,000)</a:t>
            </a:r>
            <a:endParaRPr lang="en-US" sz="2400" dirty="0"/>
          </a:p>
        </p:txBody>
      </p:sp>
      <p:sp>
        <p:nvSpPr>
          <p:cNvPr id="6" name="Text 4"/>
          <p:cNvSpPr txBox="1"/>
          <p:nvPr/>
        </p:nvSpPr>
        <p:spPr>
          <a:xfrm>
            <a:off x="1280160" y="2926080"/>
            <a:ext cx="4754880" cy="2688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685800" indent="-685800">
              <a:spcAft>
                <a:spcPts val="600"/>
              </a:spcAft>
              <a:buSzPct val="100000"/>
              <a:buChar char="•"/>
            </a:pPr>
            <a:r>
              <a:rPr lang="en-US" sz="2400" dirty="0"/>
              <a:t>Mentors and facilitators: N80,000</a:t>
            </a:r>
          </a:p>
          <a:p>
            <a:pPr marL="685800" indent="-685800">
              <a:spcAft>
                <a:spcPts val="600"/>
              </a:spcAft>
              <a:buSzPct val="100000"/>
              <a:buChar char="•"/>
            </a:pPr>
            <a:r>
              <a:rPr lang="en-US" sz="2400" dirty="0"/>
              <a:t>Data, hosting, tools: N60,000</a:t>
            </a:r>
          </a:p>
          <a:p>
            <a:pPr marL="685800" indent="-685800">
              <a:spcAft>
                <a:spcPts val="600"/>
              </a:spcAft>
              <a:buSzPct val="100000"/>
              <a:buChar char="•"/>
            </a:pPr>
            <a:r>
              <a:rPr lang="en-US" sz="2400" dirty="0"/>
              <a:t>Marketing/outreach: N50,000</a:t>
            </a:r>
          </a:p>
          <a:p>
            <a:pPr marL="685800" indent="-685800">
              <a:spcAft>
                <a:spcPts val="600"/>
              </a:spcAft>
              <a:buSzPct val="100000"/>
              <a:buChar char="•"/>
            </a:pPr>
            <a:r>
              <a:rPr lang="en-US" sz="2400" dirty="0"/>
              <a:t>Operations/misc: N60,000</a:t>
            </a:r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xmlns="" val="1579011935"/>
              </p:ext>
            </p:extLst>
          </p:nvPr>
        </p:nvGraphicFramePr>
        <p:xfrm>
          <a:off x="6492240" y="2743200"/>
          <a:ext cx="5303520" cy="3602736"/>
        </p:xfrm>
        <a:graphic>
          <a:graphicData uri="http://schemas.openxmlformats.org/drawingml/2006/table">
            <a:tbl>
              <a:tblPr/>
              <a:tblGrid>
                <a:gridCol w="3474720"/>
                <a:gridCol w="1828800"/>
              </a:tblGrid>
              <a:tr h="4937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2000" b="1" dirty="0">
                          <a:solidFill>
                            <a:schemeClr val="bg1"/>
                          </a:solidFill>
                        </a:rPr>
                        <a:t>Service</a:t>
                      </a:r>
                      <a:endParaRPr lang="en-US" sz="2000" dirty="0"/>
                    </a:p>
                  </a:txBody>
                  <a:tcPr marL="182880" marR="182880" marT="91440" marB="91440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2000" b="1" dirty="0">
                          <a:solidFill>
                            <a:schemeClr val="bg1"/>
                          </a:solidFill>
                        </a:rPr>
                        <a:t>Price (N)</a:t>
                      </a:r>
                      <a:endParaRPr lang="en-US" sz="2000" dirty="0"/>
                    </a:p>
                  </a:txBody>
                  <a:tcPr marL="182880" marR="182880" marT="91440" marB="91440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</a:tr>
              <a:tr h="4937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2200" dirty="0">
                          <a:solidFill>
                            <a:schemeClr val="tx1"/>
                          </a:solidFill>
                        </a:rPr>
                        <a:t>Career guidance session</a:t>
                      </a:r>
                      <a:endParaRPr lang="en-US" sz="2200" dirty="0"/>
                    </a:p>
                  </a:txBody>
                  <a:tcPr marL="182880" marR="182880" marT="91440" marB="91440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2000" dirty="0">
                          <a:solidFill>
                            <a:schemeClr val="tx1"/>
                          </a:solidFill>
                        </a:rPr>
                        <a:t>3,000</a:t>
                      </a:r>
                      <a:endParaRPr lang="en-US" sz="2000" dirty="0"/>
                    </a:p>
                  </a:txBody>
                  <a:tcPr marL="182880" marR="182880" marT="91440" marB="91440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4937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2200" dirty="0">
                          <a:solidFill>
                            <a:schemeClr val="tx1"/>
                          </a:solidFill>
                        </a:rPr>
                        <a:t>Mentorship (monthly)</a:t>
                      </a:r>
                      <a:endParaRPr lang="en-US" sz="2200" dirty="0"/>
                    </a:p>
                  </a:txBody>
                  <a:tcPr marL="182880" marR="182880" marT="91440" marB="91440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2000" dirty="0">
                          <a:solidFill>
                            <a:schemeClr val="tx1"/>
                          </a:solidFill>
                        </a:rPr>
                        <a:t>5,000</a:t>
                      </a:r>
                      <a:endParaRPr lang="en-US" sz="2000" dirty="0"/>
                    </a:p>
                  </a:txBody>
                  <a:tcPr marL="182880" marR="182880" marT="91440" marB="91440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4937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2200" dirty="0">
                          <a:solidFill>
                            <a:schemeClr val="tx1"/>
                          </a:solidFill>
                        </a:rPr>
                        <a:t>Portfolio development</a:t>
                      </a:r>
                      <a:endParaRPr lang="en-US" sz="2200" dirty="0"/>
                    </a:p>
                  </a:txBody>
                  <a:tcPr marL="182880" marR="182880" marT="91440" marB="91440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2000" dirty="0">
                          <a:solidFill>
                            <a:schemeClr val="tx1"/>
                          </a:solidFill>
                        </a:rPr>
                        <a:t>10,000</a:t>
                      </a:r>
                      <a:endParaRPr lang="en-US" sz="2000" dirty="0"/>
                    </a:p>
                  </a:txBody>
                  <a:tcPr marL="182880" marR="182880" marT="91440" marB="91440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4937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2200" dirty="0">
                          <a:solidFill>
                            <a:schemeClr val="tx1"/>
                          </a:solidFill>
                        </a:rPr>
                        <a:t>Digital skills bootcamp</a:t>
                      </a:r>
                      <a:endParaRPr lang="en-US" sz="2200" dirty="0"/>
                    </a:p>
                  </a:txBody>
                  <a:tcPr marL="182880" marR="182880" marT="91440" marB="91440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2000" dirty="0">
                          <a:solidFill>
                            <a:schemeClr val="tx1"/>
                          </a:solidFill>
                        </a:rPr>
                        <a:t>15,000</a:t>
                      </a:r>
                      <a:endParaRPr lang="en-US" sz="2000" dirty="0"/>
                    </a:p>
                  </a:txBody>
                  <a:tcPr marL="182880" marR="182880" marT="91440" marB="91440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4937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2200" dirty="0">
                          <a:solidFill>
                            <a:schemeClr val="tx1"/>
                          </a:solidFill>
                        </a:rPr>
                        <a:t>Entrepreneurship support</a:t>
                      </a:r>
                      <a:endParaRPr lang="en-US" sz="2200" dirty="0"/>
                    </a:p>
                  </a:txBody>
                  <a:tcPr marL="182880" marR="182880" marT="91440" marB="91440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2000" dirty="0">
                          <a:solidFill>
                            <a:schemeClr val="tx1"/>
                          </a:solidFill>
                        </a:rPr>
                        <a:t>20,000</a:t>
                      </a:r>
                      <a:endParaRPr lang="en-US" sz="2000" dirty="0"/>
                    </a:p>
                  </a:txBody>
                  <a:tcPr marL="182880" marR="182880" marT="91440" marB="91440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4937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2200" dirty="0">
                          <a:solidFill>
                            <a:schemeClr val="tx1"/>
                          </a:solidFill>
                        </a:rPr>
                        <a:t>Institution cohort</a:t>
                      </a:r>
                      <a:endParaRPr lang="en-US" sz="2200" dirty="0"/>
                    </a:p>
                  </a:txBody>
                  <a:tcPr marL="182880" marR="182880" marT="91440" marB="91440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2000" dirty="0">
                          <a:solidFill>
                            <a:schemeClr val="tx1"/>
                          </a:solidFill>
                        </a:rPr>
                        <a:t>150,000</a:t>
                      </a:r>
                      <a:endParaRPr lang="en-US" sz="2000" dirty="0"/>
                    </a:p>
                  </a:txBody>
                  <a:tcPr marL="182880" marR="182880" marT="91440" marB="91440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</a:tbl>
          </a:graphicData>
        </a:graphic>
      </p:graphicFrame>
      <p:sp>
        <p:nvSpPr>
          <p:cNvPr id="7" name="Text 5"/>
          <p:cNvSpPr txBox="1"/>
          <p:nvPr/>
        </p:nvSpPr>
        <p:spPr>
          <a:xfrm>
            <a:off x="6492240" y="2194560"/>
            <a:ext cx="5303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2400" b="1" dirty="0">
                <a:solidFill>
                  <a:schemeClr val="tx2"/>
                </a:solidFill>
              </a:rPr>
              <a:t>2. Pricing (per service)</a:t>
            </a:r>
            <a:endParaRPr lang="en-US" sz="2400" dirty="0"/>
          </a:p>
        </p:txBody>
      </p:sp>
      <p:sp>
        <p:nvSpPr>
          <p:cNvPr id="9" name="Card 3. Monthly Output"/>
          <p:cNvSpPr/>
          <p:nvPr/>
        </p:nvSpPr>
        <p:spPr>
          <a:xfrm>
            <a:off x="12070080" y="2194560"/>
            <a:ext cx="5303520" cy="3566160"/>
          </a:xfrm>
          <a:prstGeom prst="rect">
            <a:avLst/>
          </a:prstGeom>
          <a:solidFill>
            <a:schemeClr val="bg1"/>
          </a:solidFill>
          <a:ln w="9525">
            <a:solidFill>
              <a:srgbClr val="D8DEE6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2070080" y="2194560"/>
            <a:ext cx="146304" cy="3566160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12435840" y="2340864"/>
            <a:ext cx="4754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2600" b="1" dirty="0">
                <a:solidFill>
                  <a:schemeClr val="tx2"/>
                </a:solidFill>
              </a:rPr>
              <a:t>3. Monthly Output</a:t>
            </a:r>
            <a:endParaRPr lang="en-US" sz="2600" dirty="0"/>
          </a:p>
        </p:txBody>
      </p:sp>
      <p:sp>
        <p:nvSpPr>
          <p:cNvPr id="12" name="Text 9"/>
          <p:cNvSpPr txBox="1"/>
          <p:nvPr/>
        </p:nvSpPr>
        <p:spPr>
          <a:xfrm>
            <a:off x="12435840" y="2926080"/>
            <a:ext cx="4754880" cy="2688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685800" indent="-685800">
              <a:spcAft>
                <a:spcPts val="600"/>
              </a:spcAft>
              <a:buSzPct val="100000"/>
              <a:buChar char="•"/>
            </a:pPr>
            <a:r>
              <a:rPr lang="en-US" sz="2400" dirty="0"/>
              <a:t>40 guidance sessions</a:t>
            </a:r>
          </a:p>
          <a:p>
            <a:pPr marL="685800" indent="-685800">
              <a:spcAft>
                <a:spcPts val="600"/>
              </a:spcAft>
              <a:buSzPct val="100000"/>
              <a:buChar char="•"/>
            </a:pPr>
            <a:r>
              <a:rPr lang="en-US" sz="2400" dirty="0"/>
              <a:t>20 mentees, 12 portfolios</a:t>
            </a:r>
          </a:p>
          <a:p>
            <a:pPr marL="685800" indent="-685800">
              <a:spcAft>
                <a:spcPts val="600"/>
              </a:spcAft>
              <a:buSzPct val="100000"/>
              <a:buChar char="•"/>
            </a:pPr>
            <a:r>
              <a:rPr lang="en-US" sz="2400" dirty="0"/>
              <a:t>8 bootcamp seats</a:t>
            </a:r>
          </a:p>
          <a:p>
            <a:pPr marL="685800" indent="-685800">
              <a:spcAft>
                <a:spcPts val="600"/>
              </a:spcAft>
              <a:buSzPct val="100000"/>
              <a:buChar char="•"/>
            </a:pPr>
            <a:r>
              <a:rPr lang="en-US" sz="2400" dirty="0"/>
              <a:t>1 entrepreneurship package</a:t>
            </a:r>
          </a:p>
        </p:txBody>
      </p:sp>
      <p:sp>
        <p:nvSpPr>
          <p:cNvPr id="13" name="KPI 4. Income per month"/>
          <p:cNvSpPr/>
          <p:nvPr/>
        </p:nvSpPr>
        <p:spPr>
          <a:xfrm>
            <a:off x="914400" y="6400800"/>
            <a:ext cx="5303520" cy="2834640"/>
          </a:xfrm>
          <a:prstGeom prst="rect">
            <a:avLst/>
          </a:prstGeom>
          <a:solidFill>
            <a:schemeClr val="tx2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914400" y="6400800"/>
            <a:ext cx="5303520" cy="2834640"/>
          </a:xfrm>
          <a:prstGeom prst="rect">
            <a:avLst/>
          </a:prstGeom>
          <a:noFill/>
          <a:ln/>
        </p:spPr>
        <p:txBody>
          <a:bodyPr wrap="square" lIns="182880" tIns="91440" rIns="182880" bIns="91440" rtlCol="0" anchor="ctr"/>
          <a:lstStyle/>
          <a:p>
            <a:pPr algn="ctr"/>
            <a:r>
              <a:rPr lang="en-US" sz="4800" b="1" dirty="0">
                <a:solidFill>
                  <a:schemeClr val="bg1"/>
                </a:solidFill>
              </a:rPr>
              <a:t>N480,000</a:t>
            </a:r>
            <a:endParaRPr lang="en-US" sz="4800" dirty="0"/>
          </a:p>
          <a:p>
            <a:pPr algn="ctr"/>
            <a:r>
              <a:rPr lang="en-US" sz="2200" dirty="0">
                <a:solidFill>
                  <a:schemeClr val="bg1"/>
                </a:solidFill>
              </a:rPr>
              <a:t>4. Income per month</a:t>
            </a:r>
            <a:endParaRPr lang="en-US" sz="4800" dirty="0"/>
          </a:p>
        </p:txBody>
      </p:sp>
      <p:sp>
        <p:nvSpPr>
          <p:cNvPr id="15" name="KPI Gross profit per month"/>
          <p:cNvSpPr/>
          <p:nvPr/>
        </p:nvSpPr>
        <p:spPr>
          <a:xfrm>
            <a:off x="6492240" y="6400800"/>
            <a:ext cx="5303520" cy="2834640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16" name="Text 13"/>
          <p:cNvSpPr txBox="1"/>
          <p:nvPr/>
        </p:nvSpPr>
        <p:spPr>
          <a:xfrm>
            <a:off x="6492240" y="6400800"/>
            <a:ext cx="5303520" cy="2834640"/>
          </a:xfrm>
          <a:prstGeom prst="rect">
            <a:avLst/>
          </a:prstGeom>
          <a:noFill/>
          <a:ln/>
        </p:spPr>
        <p:txBody>
          <a:bodyPr wrap="square" lIns="182880" tIns="91440" rIns="182880" bIns="91440" rtlCol="0" anchor="ctr"/>
          <a:lstStyle/>
          <a:p>
            <a:pPr algn="ctr"/>
            <a:r>
              <a:rPr lang="en-US" sz="4800" b="1" dirty="0">
                <a:solidFill>
                  <a:schemeClr val="bg1"/>
                </a:solidFill>
              </a:rPr>
              <a:t>N230,000</a:t>
            </a:r>
            <a:endParaRPr lang="en-US" sz="4800" dirty="0"/>
          </a:p>
          <a:p>
            <a:pPr algn="ctr"/>
            <a:r>
              <a:rPr lang="en-US" sz="2200" dirty="0">
                <a:solidFill>
                  <a:schemeClr val="bg1"/>
                </a:solidFill>
              </a:rPr>
              <a:t>Gross profit per month</a:t>
            </a:r>
            <a:endParaRPr lang="en-US" sz="4800" dirty="0"/>
          </a:p>
        </p:txBody>
      </p:sp>
      <p:sp>
        <p:nvSpPr>
          <p:cNvPr id="17" name="KPI 5. Gross margin"/>
          <p:cNvSpPr/>
          <p:nvPr/>
        </p:nvSpPr>
        <p:spPr>
          <a:xfrm>
            <a:off x="12070080" y="6400800"/>
            <a:ext cx="5303520" cy="2834640"/>
          </a:xfrm>
          <a:prstGeom prst="rect">
            <a:avLst/>
          </a:prstGeom>
          <a:solidFill>
            <a:schemeClr val="accent5"/>
          </a:solidFill>
          <a:ln/>
        </p:spPr>
      </p:sp>
      <p:sp>
        <p:nvSpPr>
          <p:cNvPr id="18" name="Text 15"/>
          <p:cNvSpPr txBox="1"/>
          <p:nvPr/>
        </p:nvSpPr>
        <p:spPr>
          <a:xfrm>
            <a:off x="12070080" y="6400800"/>
            <a:ext cx="5303520" cy="2834640"/>
          </a:xfrm>
          <a:prstGeom prst="rect">
            <a:avLst/>
          </a:prstGeom>
          <a:noFill/>
          <a:ln/>
        </p:spPr>
        <p:txBody>
          <a:bodyPr wrap="square" lIns="182880" tIns="91440" rIns="182880" bIns="91440" rtlCol="0" anchor="ctr"/>
          <a:lstStyle/>
          <a:p>
            <a:pPr algn="ctr"/>
            <a:r>
              <a:rPr lang="en-US" sz="4800" b="1" dirty="0">
                <a:solidFill>
                  <a:schemeClr val="bg1"/>
                </a:solidFill>
              </a:rPr>
              <a:t>about 48%</a:t>
            </a:r>
            <a:endParaRPr lang="en-US" sz="4800" dirty="0"/>
          </a:p>
          <a:p>
            <a:pPr algn="ctr"/>
            <a:r>
              <a:rPr lang="en-US" sz="2200" dirty="0">
                <a:solidFill>
                  <a:schemeClr val="bg1"/>
                </a:solidFill>
              </a:rPr>
              <a:t>5. Gross margin</a:t>
            </a:r>
            <a:endParaRPr lang="en-US" sz="4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6642080" y="9656064"/>
            <a:ext cx="731520" cy="4572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800">
                <a:solidFill>
                  <a:schemeClr val="accent6"/>
                </a:solidFill>
              </a:defRPr>
            </a:lvl1pPr>
          </a:lstStyle>
          <a:p>
            <a:pPr algn="l"/>
            <a:fld id="{F7021451-1387-4CA6-816F-3879F97B5CBC}" type="slidenum">
              <a:rPr lang="en-US" b="0"/>
              <a:pPr algn="l"/>
              <a:t>7</a:t>
            </a:fld>
            <a:endParaRPr lang="en-US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219456"/>
            <a:ext cx="164592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5200" b="1" dirty="0">
                <a:solidFill>
                  <a:schemeClr val="bg1"/>
                </a:solidFill>
              </a:rPr>
              <a:t>Potential Impact &amp; Sustainability</a:t>
            </a:r>
            <a:endParaRPr lang="en-US" sz="5200" dirty="0"/>
          </a:p>
        </p:txBody>
      </p:sp>
      <p:sp>
        <p:nvSpPr>
          <p:cNvPr id="3" name="Card Long-term Societal Value"/>
          <p:cNvSpPr/>
          <p:nvPr/>
        </p:nvSpPr>
        <p:spPr>
          <a:xfrm>
            <a:off x="914400" y="2194560"/>
            <a:ext cx="8046720" cy="7040880"/>
          </a:xfrm>
          <a:prstGeom prst="rect">
            <a:avLst/>
          </a:prstGeom>
          <a:solidFill>
            <a:schemeClr val="bg1"/>
          </a:solidFill>
          <a:ln w="9525">
            <a:solidFill>
              <a:srgbClr val="D8DEE6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914400" y="2194560"/>
            <a:ext cx="146304" cy="7040880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1280160" y="2340864"/>
            <a:ext cx="7498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3000" b="1" dirty="0">
                <a:solidFill>
                  <a:schemeClr val="tx2"/>
                </a:solidFill>
              </a:rPr>
              <a:t>Long-term Societal Value</a:t>
            </a:r>
            <a:endParaRPr lang="en-US" sz="3000" dirty="0"/>
          </a:p>
        </p:txBody>
      </p:sp>
      <p:sp>
        <p:nvSpPr>
          <p:cNvPr id="6" name="Text 4"/>
          <p:cNvSpPr txBox="1"/>
          <p:nvPr/>
        </p:nvSpPr>
        <p:spPr>
          <a:xfrm>
            <a:off x="1280160" y="2926080"/>
            <a:ext cx="7498080" cy="61630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685800" indent="-685800">
              <a:spcAft>
                <a:spcPts val="600"/>
              </a:spcAft>
              <a:buSzPct val="100000"/>
              <a:buChar char="•"/>
            </a:pPr>
            <a:r>
              <a:rPr lang="en-US" sz="2600" dirty="0"/>
              <a:t>Employable, </a:t>
            </a:r>
            <a:r>
              <a:rPr lang="en-US" sz="2600" dirty="0" smtClean="0"/>
              <a:t>income earning </a:t>
            </a:r>
            <a:r>
              <a:rPr lang="en-US" sz="2600" dirty="0"/>
              <a:t>youth reduce unemployment and </a:t>
            </a:r>
            <a:r>
              <a:rPr lang="en-US" sz="2600" dirty="0" smtClean="0"/>
              <a:t>poverty.</a:t>
            </a:r>
            <a:endParaRPr lang="en-US" sz="2600" dirty="0"/>
          </a:p>
          <a:p>
            <a:pPr marL="685800" indent="-685800">
              <a:spcAft>
                <a:spcPts val="600"/>
              </a:spcAft>
              <a:buSzPct val="100000"/>
              <a:buChar char="•"/>
            </a:pPr>
            <a:r>
              <a:rPr lang="en-US" sz="2600" dirty="0"/>
              <a:t>Wider digital and AI literacy in underserved </a:t>
            </a:r>
            <a:r>
              <a:rPr lang="en-US" sz="2600" dirty="0" smtClean="0"/>
              <a:t>communities.</a:t>
            </a:r>
            <a:endParaRPr lang="en-US" sz="2600" dirty="0"/>
          </a:p>
          <a:p>
            <a:pPr marL="685800" indent="-685800">
              <a:spcAft>
                <a:spcPts val="600"/>
              </a:spcAft>
              <a:buSzPct val="100000"/>
              <a:buChar char="•"/>
            </a:pPr>
            <a:r>
              <a:rPr lang="en-US" sz="2600" dirty="0"/>
              <a:t>More young entrepreneurs creating jobs</a:t>
            </a:r>
          </a:p>
          <a:p>
            <a:pPr marL="685800" indent="-685800">
              <a:spcAft>
                <a:spcPts val="600"/>
              </a:spcAft>
              <a:buSzPct val="100000"/>
              <a:buChar char="•"/>
            </a:pPr>
            <a:r>
              <a:rPr lang="en-US" sz="2600" dirty="0"/>
              <a:t>Advances SDG 4, 8 and </a:t>
            </a:r>
            <a:r>
              <a:rPr lang="en-US" sz="2600" dirty="0" smtClean="0"/>
              <a:t>10.</a:t>
            </a:r>
            <a:endParaRPr lang="en-US" sz="2600" dirty="0"/>
          </a:p>
        </p:txBody>
      </p:sp>
      <p:sp>
        <p:nvSpPr>
          <p:cNvPr id="7" name="Card Business Growth Potential"/>
          <p:cNvSpPr/>
          <p:nvPr/>
        </p:nvSpPr>
        <p:spPr>
          <a:xfrm>
            <a:off x="9326880" y="2194560"/>
            <a:ext cx="8046720" cy="7040880"/>
          </a:xfrm>
          <a:prstGeom prst="rect">
            <a:avLst/>
          </a:prstGeom>
          <a:solidFill>
            <a:schemeClr val="bg1"/>
          </a:solidFill>
          <a:ln w="9525">
            <a:solidFill>
              <a:srgbClr val="D8DEE6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9326880" y="2194560"/>
            <a:ext cx="146304" cy="7040880"/>
          </a:xfrm>
          <a:prstGeom prst="rect">
            <a:avLst/>
          </a:prstGeom>
          <a:solidFill>
            <a:schemeClr val="accent2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9692640" y="2340864"/>
            <a:ext cx="7498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3000" b="1" dirty="0">
                <a:solidFill>
                  <a:schemeClr val="tx2"/>
                </a:solidFill>
              </a:rPr>
              <a:t>Business Growth Potential</a:t>
            </a:r>
            <a:endParaRPr lang="en-US" sz="3000" dirty="0"/>
          </a:p>
        </p:txBody>
      </p:sp>
      <p:sp>
        <p:nvSpPr>
          <p:cNvPr id="10" name="Text 8"/>
          <p:cNvSpPr txBox="1"/>
          <p:nvPr/>
        </p:nvSpPr>
        <p:spPr>
          <a:xfrm>
            <a:off x="9692640" y="2926080"/>
            <a:ext cx="7498080" cy="61630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685800" indent="-685800">
              <a:spcAft>
                <a:spcPts val="600"/>
              </a:spcAft>
              <a:buSzPct val="100000"/>
              <a:buChar char="•"/>
            </a:pPr>
            <a:r>
              <a:rPr lang="en-US" sz="2600" dirty="0"/>
              <a:t>Year 1: scale to </a:t>
            </a:r>
            <a:r>
              <a:rPr lang="en-US" sz="2600" dirty="0" smtClean="0"/>
              <a:t>500</a:t>
            </a:r>
            <a:r>
              <a:rPr lang="en-US" sz="2600" dirty="0"/>
              <a:t>+ learners in </a:t>
            </a:r>
            <a:r>
              <a:rPr lang="en-US" sz="2600" dirty="0" smtClean="0"/>
              <a:t>Enugu.</a:t>
            </a:r>
            <a:endParaRPr lang="en-US" sz="2600" dirty="0"/>
          </a:p>
          <a:p>
            <a:pPr marL="685800" indent="-685800">
              <a:spcAft>
                <a:spcPts val="600"/>
              </a:spcAft>
              <a:buSzPct val="100000"/>
              <a:buChar char="•"/>
            </a:pPr>
            <a:r>
              <a:rPr lang="en-US" sz="2600" dirty="0"/>
              <a:t>Year 2: expand to other states via partner centres</a:t>
            </a:r>
          </a:p>
          <a:p>
            <a:pPr marL="685800" indent="-685800">
              <a:spcAft>
                <a:spcPts val="600"/>
              </a:spcAft>
              <a:buSzPct val="100000"/>
              <a:buChar char="•"/>
            </a:pPr>
            <a:r>
              <a:rPr lang="en-US" sz="2600" dirty="0"/>
              <a:t>Year 3: add certification, job-matching and corporate </a:t>
            </a:r>
            <a:r>
              <a:rPr lang="en-US" sz="2600" dirty="0" smtClean="0"/>
              <a:t>training.</a:t>
            </a:r>
            <a:endParaRPr lang="en-US" sz="2600" dirty="0"/>
          </a:p>
          <a:p>
            <a:pPr marL="685800" indent="-685800">
              <a:spcAft>
                <a:spcPts val="600"/>
              </a:spcAft>
              <a:buSzPct val="100000"/>
              <a:buChar char="•"/>
            </a:pPr>
            <a:r>
              <a:rPr lang="en-US" sz="2600" dirty="0"/>
              <a:t>Diversified revenue keeps the model </a:t>
            </a:r>
            <a:r>
              <a:rPr lang="en-US" sz="2600" dirty="0" smtClean="0"/>
              <a:t>self-sustaining.</a:t>
            </a:r>
            <a:endParaRPr lang="en-US" sz="2600" dirty="0"/>
          </a:p>
          <a:p>
            <a:pPr marL="685800" indent="-685800">
              <a:spcAft>
                <a:spcPts val="600"/>
              </a:spcAft>
              <a:buSzPct val="100000"/>
              <a:buChar char="•"/>
            </a:pPr>
            <a:r>
              <a:rPr lang="en-US" sz="2600" dirty="0"/>
              <a:t>Alumni become mentors, lowering costs as it </a:t>
            </a:r>
            <a:r>
              <a:rPr lang="en-US" sz="2600" dirty="0" smtClean="0"/>
              <a:t>grows.</a:t>
            </a:r>
            <a:endParaRPr lang="en-US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6642080" y="9656064"/>
            <a:ext cx="731520" cy="4572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800">
                <a:solidFill>
                  <a:schemeClr val="accent6"/>
                </a:solidFill>
              </a:defRPr>
            </a:lvl1pPr>
          </a:lstStyle>
          <a:p>
            <a:pPr algn="l"/>
            <a:fld id="{F7021451-1387-4CA6-816F-3879F97B5CBC}" type="slidenum">
              <a:rPr lang="en-US" b="0"/>
              <a:pPr algn="l"/>
              <a:t>8</a:t>
            </a:fld>
            <a:endParaRPr lang="en-US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xmlns="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12678</TotalTime>
  <Words>833</Words>
  <Application>Microsoft Office PowerPoint</Application>
  <PresentationFormat>Custom</PresentationFormat>
  <Paragraphs>158</Paragraphs>
  <Slides>8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9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8" baseType="lpstr">
      <vt:lpstr>Arial</vt:lpstr>
      <vt:lpstr>Calibri</vt:lpstr>
      <vt:lpstr>Arial Black</vt:lpstr>
      <vt:lpstr>Montserrat Light Bold</vt:lpstr>
      <vt:lpstr>Montserrat Light</vt:lpstr>
      <vt:lpstr>Maven Pro Bold</vt:lpstr>
      <vt:lpstr>Open Sauce</vt:lpstr>
      <vt:lpstr>Arial Rounded MT Bold</vt:lpstr>
      <vt:lpstr>Codec Pro ExtraBold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LinksUpToDate>false</LinksUpToDate>
  <SharedDoc>false</SharedDoc>
  <HyperlinksChanged>false</HyperlinksChanged>
  <AppVersion>12.0000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TEMPLATE</dc:title>
  <dc:creator>DR. AMUSA J.O</dc:creator>
  <cp:lastModifiedBy>Rose</cp:lastModifiedBy>
  <cp:revision>16</cp:revision>
  <dcterms:created xsi:type="dcterms:W3CDTF">2006-08-16T00:00:00Z</dcterms:created>
  <dcterms:modified xsi:type="dcterms:W3CDTF">2026-10-06T20:44:58Z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8EAA45D7D82542C893E70DD9DDE9C5A2_13</vt:lpwstr>
  </property>
  <property fmtid="{D5CDD505-2E9C-101B-9397-08002B2CF9AE}" pid="3" name="KSOProductBuildVer">
    <vt:lpwstr>1033-12.2.0.20326</vt:lpwstr>
  </property>
</Properties>
</file>