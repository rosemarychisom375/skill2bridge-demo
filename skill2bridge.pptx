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66" r:id="rId3"/>
    <p:sldId id="267" r:id="rId4"/>
    <p:sldId id="268" r:id="rId5"/>
    <p:sldId id="269" r:id="rId6"/>
    <p:sldId id="270" r:id="rId7"/>
    <p:sldId id="271" r:id="rId8"/>
    <p:sldId id="272" r:id="rId9"/>
  </p:sldIdLst>
  <p:sldSz cx="18288000" cy="10287000"/>
  <p:notesSz cx="6858000" cy="9144000"/>
  <p:embeddedFontLst>
    <p:embeddedFont>
      <p:font typeface="Calibri" pitchFamily="34" charset="0"/>
      <p:regular r:id="rId11"/>
      <p:bold r:id="rId12"/>
      <p:italic r:id="rId13"/>
      <p:boldItalic r:id="rId14"/>
    </p:embeddedFont>
    <p:embeddedFont>
      <p:font typeface="Arial Black" pitchFamily="34" charset="0"/>
      <p:bold r:id="rId15"/>
    </p:embeddedFont>
    <p:embeddedFont>
      <p:font typeface="Montserrat Light" charset="0"/>
      <p:regular r:id="rId16"/>
      <p:italic r:id="rId17"/>
    </p:embeddedFont>
    <p:embeddedFont>
      <p:font typeface="Maven Pro Bold" charset="0"/>
      <p:bold r:id="rId18"/>
    </p:embeddedFont>
    <p:embeddedFont>
      <p:font typeface="Open Sauce" charset="0"/>
      <p:regular r:id="rId19"/>
    </p:embeddedFont>
    <p:embeddedFont>
      <p:font typeface="Arial Rounded MT Bold" pitchFamily="3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4622" autoAdjust="0"/>
  </p:normalViewPr>
  <p:slideViewPr>
    <p:cSldViewPr>
      <p:cViewPr varScale="1">
        <p:scale>
          <a:sx n="38" d="100"/>
          <a:sy n="38" d="100"/>
        </p:scale>
        <p:origin x="-1086" y="-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DD7EDA-615F-41FC-BDF1-7928284B691F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49E86B-2D32-48E2-9BBB-F8FE35F3770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7373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737360"/>
            <a:ext cx="18288000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9656064"/>
            <a:ext cx="1280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accent6"/>
                </a:solidFill>
              </a:rPr>
              <a:t>Skill2Bridge  |  BPIN SE0155  |  Digital Inclusion &amp; Employability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642080" y="9656064"/>
            <a:ext cx="731520" cy="4572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pPr algn="l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6.jpeg"/><Relationship Id="rId10" Type="http://schemas.openxmlformats.org/officeDocument/2006/relationships/image" Target="../media/image5.png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rosemarychisom375.github.io/Personal-Portfolio-Site/" TargetMode="External"/><Relationship Id="rId3" Type="http://schemas.openxmlformats.org/officeDocument/2006/relationships/hyperlink" Target="https://www.amazon.com/dp/B0H7PJH99R" TargetMode="External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://www.linkedin.com/in/chisom-rosemary-akabueze" TargetMode="Externa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hyperlink" Target="https://rosemarychisom375.github.io/Skill2Bridge-Demo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9431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367087" y="1790700"/>
            <a:ext cx="12739313" cy="8253588"/>
            <a:chOff x="0" y="0"/>
            <a:chExt cx="3010695" cy="208580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010695" cy="2085801"/>
            </a:xfrm>
            <a:custGeom>
              <a:avLst/>
              <a:gdLst/>
              <a:ahLst/>
              <a:cxnLst/>
              <a:rect l="l" t="t" r="r" b="b"/>
              <a:pathLst>
                <a:path w="3010695" h="2085801">
                  <a:moveTo>
                    <a:pt x="64340" y="0"/>
                  </a:moveTo>
                  <a:lnTo>
                    <a:pt x="2946355" y="0"/>
                  </a:lnTo>
                  <a:cubicBezTo>
                    <a:pt x="2981889" y="0"/>
                    <a:pt x="3010695" y="28806"/>
                    <a:pt x="3010695" y="64340"/>
                  </a:cubicBezTo>
                  <a:lnTo>
                    <a:pt x="3010695" y="2021461"/>
                  </a:lnTo>
                  <a:cubicBezTo>
                    <a:pt x="3010695" y="2056995"/>
                    <a:pt x="2981889" y="2085801"/>
                    <a:pt x="2946355" y="2085801"/>
                  </a:cubicBezTo>
                  <a:lnTo>
                    <a:pt x="64340" y="2085801"/>
                  </a:lnTo>
                  <a:cubicBezTo>
                    <a:pt x="28806" y="2085801"/>
                    <a:pt x="0" y="2056995"/>
                    <a:pt x="0" y="2021461"/>
                  </a:cubicBezTo>
                  <a:lnTo>
                    <a:pt x="0" y="64340"/>
                  </a:lnTo>
                  <a:cubicBezTo>
                    <a:pt x="0" y="28806"/>
                    <a:pt x="28806" y="0"/>
                    <a:pt x="6434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010695" cy="2123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9958206" y="4895296"/>
            <a:ext cx="4901235" cy="1648040"/>
          </a:xfrm>
          <a:custGeom>
            <a:avLst/>
            <a:gdLst/>
            <a:ahLst/>
            <a:cxnLst/>
            <a:rect l="l" t="t" r="r" b="b"/>
            <a:pathLst>
              <a:path w="4901235" h="1648040">
                <a:moveTo>
                  <a:pt x="0" y="0"/>
                </a:moveTo>
                <a:lnTo>
                  <a:pt x="4901235" y="0"/>
                </a:lnTo>
                <a:lnTo>
                  <a:pt x="4901235" y="1648041"/>
                </a:lnTo>
                <a:lnTo>
                  <a:pt x="0" y="1648041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print">
              <a:alphaModFix amt="53000"/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038225" y="9700622"/>
            <a:ext cx="8858196" cy="1439457"/>
          </a:xfrm>
          <a:custGeom>
            <a:avLst/>
            <a:gdLst/>
            <a:ahLst/>
            <a:cxnLst/>
            <a:rect l="l" t="t" r="r" b="b"/>
            <a:pathLst>
              <a:path w="8858196" h="1439457">
                <a:moveTo>
                  <a:pt x="0" y="0"/>
                </a:moveTo>
                <a:lnTo>
                  <a:pt x="8858196" y="0"/>
                </a:lnTo>
                <a:lnTo>
                  <a:pt x="8858196" y="1439456"/>
                </a:lnTo>
                <a:lnTo>
                  <a:pt x="0" y="1439456"/>
                </a:lnTo>
                <a:lnTo>
                  <a:pt x="0" y="0"/>
                </a:lnTo>
                <a:close/>
              </a:path>
            </a:pathLst>
          </a:custGeom>
          <a:blipFill>
            <a:blip r:embed="rId8" cstate="print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/>
          <p:nvPr/>
        </p:nvGrpSpPr>
        <p:grpSpPr>
          <a:xfrm>
            <a:off x="13182600" y="1028700"/>
            <a:ext cx="4794499" cy="4794499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C03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60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 flipH="1">
            <a:off x="13335000" y="342900"/>
            <a:ext cx="1715877" cy="2250331"/>
          </a:xfrm>
          <a:custGeom>
            <a:avLst/>
            <a:gdLst/>
            <a:ahLst/>
            <a:cxnLst/>
            <a:rect l="l" t="t" r="r" b="b"/>
            <a:pathLst>
              <a:path w="1715877" h="2250331">
                <a:moveTo>
                  <a:pt x="1715877" y="0"/>
                </a:moveTo>
                <a:lnTo>
                  <a:pt x="0" y="0"/>
                </a:lnTo>
                <a:lnTo>
                  <a:pt x="0" y="2250331"/>
                </a:lnTo>
                <a:lnTo>
                  <a:pt x="1715877" y="2250331"/>
                </a:lnTo>
                <a:lnTo>
                  <a:pt x="1715877" y="0"/>
                </a:lnTo>
                <a:close/>
              </a:path>
            </a:pathLst>
          </a:custGeom>
          <a:blipFill>
            <a:blip r:embed="rId9" cstate="print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6" name="Group 26"/>
          <p:cNvGrpSpPr/>
          <p:nvPr/>
        </p:nvGrpSpPr>
        <p:grpSpPr>
          <a:xfrm>
            <a:off x="1243528" y="2349808"/>
            <a:ext cx="8667602" cy="632683"/>
            <a:chOff x="0" y="0"/>
            <a:chExt cx="2109994" cy="154017"/>
          </a:xfrm>
          <a:solidFill>
            <a:schemeClr val="accent3">
              <a:lumMod val="50000"/>
            </a:schemeClr>
          </a:solidFill>
        </p:grpSpPr>
        <p:sp>
          <p:nvSpPr>
            <p:cNvPr id="27" name="Freeform 27"/>
            <p:cNvSpPr/>
            <p:nvPr/>
          </p:nvSpPr>
          <p:spPr>
            <a:xfrm>
              <a:off x="0" y="0"/>
              <a:ext cx="2109994" cy="154017"/>
            </a:xfrm>
            <a:custGeom>
              <a:avLst/>
              <a:gdLst/>
              <a:ahLst/>
              <a:cxnLst/>
              <a:rect l="l" t="t" r="r" b="b"/>
              <a:pathLst>
                <a:path w="2109994" h="154017">
                  <a:moveTo>
                    <a:pt x="16078" y="0"/>
                  </a:moveTo>
                  <a:lnTo>
                    <a:pt x="2093916" y="0"/>
                  </a:lnTo>
                  <a:cubicBezTo>
                    <a:pt x="2102795" y="0"/>
                    <a:pt x="2109994" y="7198"/>
                    <a:pt x="2109994" y="16078"/>
                  </a:cubicBezTo>
                  <a:lnTo>
                    <a:pt x="2109994" y="137939"/>
                  </a:lnTo>
                  <a:cubicBezTo>
                    <a:pt x="2109994" y="146819"/>
                    <a:pt x="2102795" y="154017"/>
                    <a:pt x="2093916" y="154017"/>
                  </a:cubicBezTo>
                  <a:lnTo>
                    <a:pt x="16078" y="154017"/>
                  </a:lnTo>
                  <a:cubicBezTo>
                    <a:pt x="7198" y="154017"/>
                    <a:pt x="0" y="146819"/>
                    <a:pt x="0" y="137939"/>
                  </a:cubicBezTo>
                  <a:lnTo>
                    <a:pt x="0" y="16078"/>
                  </a:lnTo>
                  <a:cubicBezTo>
                    <a:pt x="0" y="7198"/>
                    <a:pt x="7198" y="0"/>
                    <a:pt x="16078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x-none" dirty="0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2109994" cy="182592"/>
            </a:xfrm>
            <a:prstGeom prst="rect">
              <a:avLst/>
            </a:prstGeom>
            <a:grpFill/>
          </p:spPr>
          <p:txBody>
            <a:bodyPr lIns="56055" tIns="56055" rIns="56055" bIns="56055" rtlCol="0" anchor="ctr"/>
            <a:lstStyle/>
            <a:p>
              <a:pPr algn="ctr">
                <a:lnSpc>
                  <a:spcPts val="4550"/>
                </a:lnSpc>
              </a:pPr>
              <a:r>
                <a:rPr lang="en-US" sz="2800" b="1" dirty="0">
                  <a:solidFill>
                    <a:srgbClr val="FFFFFF"/>
                  </a:solidFill>
                  <a:latin typeface="Arial Black" panose="020B0A04020102020204" pitchFamily="34" charset="0"/>
                  <a:ea typeface="Montserrat Light Bold" panose="00000800000000000000"/>
                  <a:cs typeface="Montserrat Light Bold" panose="00000800000000000000"/>
                  <a:sym typeface="Montserrat Light Bold" panose="00000800000000000000"/>
                </a:rPr>
                <a:t>BUSINESS </a:t>
              </a:r>
              <a:r>
                <a:rPr lang="en-US" sz="2800" b="1" dirty="0" smtClean="0">
                  <a:solidFill>
                    <a:srgbClr val="FFFFFF"/>
                  </a:solidFill>
                  <a:latin typeface="Arial Black" panose="020B0A04020102020204" pitchFamily="34" charset="0"/>
                  <a:ea typeface="Montserrat Light Bold" panose="00000800000000000000"/>
                  <a:cs typeface="Montserrat Light Bold" panose="00000800000000000000"/>
                  <a:sym typeface="Montserrat Light Bold" panose="00000800000000000000"/>
                </a:rPr>
                <a:t>NAME: Skill2Bridge</a:t>
              </a:r>
              <a:endPara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Montserrat Light Bold" panose="00000800000000000000"/>
                <a:cs typeface="Montserrat Light Bold" panose="00000800000000000000"/>
                <a:sym typeface="Montserrat Light Bold" panose="00000800000000000000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219200" y="5219700"/>
            <a:ext cx="3938072" cy="1219199"/>
            <a:chOff x="0" y="0"/>
            <a:chExt cx="825638" cy="135928"/>
          </a:xfrm>
          <a:solidFill>
            <a:schemeClr val="accent3">
              <a:lumMod val="50000"/>
            </a:schemeClr>
          </a:solidFill>
        </p:grpSpPr>
        <p:sp>
          <p:nvSpPr>
            <p:cNvPr id="30" name="Freeform 30"/>
            <p:cNvSpPr/>
            <p:nvPr/>
          </p:nvSpPr>
          <p:spPr>
            <a:xfrm>
              <a:off x="0" y="0"/>
              <a:ext cx="825638" cy="135928"/>
            </a:xfrm>
            <a:custGeom>
              <a:avLst/>
              <a:gdLst/>
              <a:ahLst/>
              <a:cxnLst/>
              <a:rect l="l" t="t" r="r" b="b"/>
              <a:pathLst>
                <a:path w="825638" h="135928">
                  <a:moveTo>
                    <a:pt x="40885" y="0"/>
                  </a:moveTo>
                  <a:lnTo>
                    <a:pt x="784752" y="0"/>
                  </a:lnTo>
                  <a:cubicBezTo>
                    <a:pt x="807333" y="0"/>
                    <a:pt x="825638" y="18305"/>
                    <a:pt x="825638" y="40885"/>
                  </a:cubicBezTo>
                  <a:lnTo>
                    <a:pt x="825638" y="95043"/>
                  </a:lnTo>
                  <a:cubicBezTo>
                    <a:pt x="825638" y="117623"/>
                    <a:pt x="807333" y="135928"/>
                    <a:pt x="784752" y="135928"/>
                  </a:cubicBezTo>
                  <a:lnTo>
                    <a:pt x="40885" y="135928"/>
                  </a:lnTo>
                  <a:cubicBezTo>
                    <a:pt x="18305" y="135928"/>
                    <a:pt x="0" y="117623"/>
                    <a:pt x="0" y="95043"/>
                  </a:cubicBezTo>
                  <a:lnTo>
                    <a:pt x="0" y="40885"/>
                  </a:lnTo>
                  <a:cubicBezTo>
                    <a:pt x="0" y="18305"/>
                    <a:pt x="18305" y="0"/>
                    <a:pt x="40885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19050"/>
              <a:ext cx="825638" cy="154978"/>
            </a:xfrm>
            <a:prstGeom prst="rect">
              <a:avLst/>
            </a:prstGeom>
            <a:grpFill/>
          </p:spPr>
          <p:txBody>
            <a:bodyPr lIns="56055" tIns="56055" rIns="56055" bIns="56055" rtlCol="0" anchor="ctr"/>
            <a:lstStyle/>
            <a:p>
              <a:pPr algn="ctr">
                <a:lnSpc>
                  <a:spcPts val="4550"/>
                </a:lnSpc>
              </a:pPr>
              <a:r>
                <a:rPr lang="en-US" sz="2000" b="1" dirty="0">
                  <a:solidFill>
                    <a:srgbClr val="FFFFFF"/>
                  </a:solidFill>
                  <a:latin typeface="Arial Black" panose="020B0A04020102020204" pitchFamily="34" charset="0"/>
                  <a:ea typeface="Montserrat Light Bold" panose="00000800000000000000"/>
                  <a:cs typeface="Montserrat Light Bold" panose="00000800000000000000"/>
                  <a:sym typeface="Montserrat Light Bold" panose="00000800000000000000"/>
                </a:rPr>
                <a:t>MATRIC </a:t>
              </a:r>
              <a:r>
                <a:rPr lang="en-US" sz="2000" b="1" dirty="0" smtClean="0">
                  <a:solidFill>
                    <a:srgbClr val="FFFFFF"/>
                  </a:solidFill>
                  <a:latin typeface="Arial Black" panose="020B0A04020102020204" pitchFamily="34" charset="0"/>
                  <a:ea typeface="Montserrat Light Bold" panose="00000800000000000000"/>
                  <a:cs typeface="Montserrat Light Bold" panose="00000800000000000000"/>
                  <a:sym typeface="Montserrat Light Bold" panose="00000800000000000000"/>
                </a:rPr>
                <a:t>NUMBER: NOU252748203</a:t>
              </a:r>
              <a:endParaRPr lang="en-US" sz="2000" b="1" dirty="0">
                <a:solidFill>
                  <a:srgbClr val="FFFFFF"/>
                </a:solidFill>
                <a:latin typeface="Arial Black" panose="020B0A04020102020204" pitchFamily="34" charset="0"/>
                <a:ea typeface="Montserrat Light Bold" panose="00000800000000000000"/>
                <a:cs typeface="Montserrat Light Bold" panose="00000800000000000000"/>
                <a:sym typeface="Montserrat Light Bold" panose="00000800000000000000"/>
              </a:endParaRP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6858000" y="3238500"/>
            <a:ext cx="4800600" cy="1524002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lIns="56055" tIns="56055" rIns="56055" bIns="56055" rtlCol="0" anchor="ctr"/>
          <a:lstStyle/>
          <a:p>
            <a:pPr algn="ctr">
              <a:lnSpc>
                <a:spcPts val="4550"/>
              </a:lnSpc>
            </a:pPr>
            <a:r>
              <a:rPr lang="en-US" sz="2000" b="1" dirty="0">
                <a:solidFill>
                  <a:srgbClr val="FFFFFF"/>
                </a:solidFill>
                <a:latin typeface="Arial Black" panose="020B0A04020102020204" pitchFamily="34" charset="0"/>
                <a:ea typeface="Montserrat Light Bold" panose="00000800000000000000"/>
                <a:cs typeface="Montserrat Light Bold" panose="00000800000000000000"/>
                <a:sym typeface="Montserrat Light Bold" panose="00000800000000000000"/>
              </a:rPr>
              <a:t>ACADEMIC </a:t>
            </a:r>
            <a:r>
              <a:rPr lang="en-US" sz="2000" b="1" dirty="0" smtClean="0">
                <a:solidFill>
                  <a:srgbClr val="FFFFFF"/>
                </a:solidFill>
                <a:latin typeface="Arial Black" panose="020B0A04020102020204" pitchFamily="34" charset="0"/>
                <a:ea typeface="Montserrat Light Bold" panose="00000800000000000000"/>
                <a:cs typeface="Montserrat Light Bold" panose="00000800000000000000"/>
                <a:sym typeface="Montserrat Light Bold" panose="00000800000000000000"/>
              </a:rPr>
              <a:t>PROGRAME: BSC INFORMATION TECHNOLOGY</a:t>
            </a:r>
            <a:endParaRPr lang="en-US" sz="2000" b="1" dirty="0">
              <a:solidFill>
                <a:srgbClr val="FFFFFF"/>
              </a:solidFill>
              <a:latin typeface="Arial Black" panose="020B0A04020102020204" pitchFamily="34" charset="0"/>
              <a:ea typeface="Montserrat Light Bold" panose="00000800000000000000"/>
              <a:cs typeface="Montserrat Light Bold" panose="00000800000000000000"/>
              <a:sym typeface="Montserrat Light Bold" panose="00000800000000000000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6858000" y="5067300"/>
            <a:ext cx="4800600" cy="1252050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lIns="56055" tIns="56055" rIns="56055" bIns="56055" rtlCol="0" anchor="ctr"/>
          <a:lstStyle/>
          <a:p>
            <a:pPr algn="ctr">
              <a:lnSpc>
                <a:spcPts val="4550"/>
              </a:lnSpc>
            </a:pPr>
            <a:r>
              <a:rPr lang="en-US" sz="2000" b="1" dirty="0">
                <a:solidFill>
                  <a:srgbClr val="FFFFFF"/>
                </a:solidFill>
                <a:latin typeface="Arial Black" panose="020B0A04020102020204" pitchFamily="34" charset="0"/>
                <a:ea typeface="Montserrat Light Bold" panose="00000800000000000000"/>
                <a:cs typeface="Montserrat Light Bold" panose="00000800000000000000"/>
                <a:sym typeface="Montserrat Light Bold" panose="00000800000000000000"/>
              </a:rPr>
              <a:t>PHONE </a:t>
            </a:r>
            <a:r>
              <a:rPr lang="en-US" sz="2000" b="1" dirty="0" smtClean="0">
                <a:solidFill>
                  <a:srgbClr val="FFFFFF"/>
                </a:solidFill>
                <a:latin typeface="Arial Black" panose="020B0A04020102020204" pitchFamily="34" charset="0"/>
                <a:ea typeface="Montserrat Light Bold" panose="00000800000000000000"/>
                <a:cs typeface="Montserrat Light Bold" panose="00000800000000000000"/>
                <a:sym typeface="Montserrat Light Bold" panose="00000800000000000000"/>
              </a:rPr>
              <a:t>NUMBER: 08176150375</a:t>
            </a:r>
            <a:endParaRPr lang="en-US" sz="2000" b="1" dirty="0">
              <a:solidFill>
                <a:srgbClr val="FFFFFF"/>
              </a:solidFill>
              <a:latin typeface="Arial Black" panose="020B0A04020102020204" pitchFamily="34" charset="0"/>
              <a:ea typeface="Montserrat Light Bold" panose="00000800000000000000"/>
              <a:cs typeface="Montserrat Light Bold" panose="00000800000000000000"/>
              <a:sym typeface="Montserrat Light Bold" panose="00000800000000000000"/>
            </a:endParaRPr>
          </a:p>
        </p:txBody>
      </p:sp>
      <p:grpSp>
        <p:nvGrpSpPr>
          <p:cNvPr id="38" name="Group 38"/>
          <p:cNvGrpSpPr/>
          <p:nvPr/>
        </p:nvGrpSpPr>
        <p:grpSpPr>
          <a:xfrm>
            <a:off x="1219201" y="6743699"/>
            <a:ext cx="3962400" cy="1295401"/>
            <a:chOff x="0" y="-90907"/>
            <a:chExt cx="825638" cy="226835"/>
          </a:xfrm>
          <a:solidFill>
            <a:schemeClr val="accent3">
              <a:lumMod val="50000"/>
            </a:schemeClr>
          </a:solidFill>
        </p:grpSpPr>
        <p:sp>
          <p:nvSpPr>
            <p:cNvPr id="39" name="Freeform 39"/>
            <p:cNvSpPr/>
            <p:nvPr/>
          </p:nvSpPr>
          <p:spPr>
            <a:xfrm>
              <a:off x="0" y="0"/>
              <a:ext cx="825638" cy="135928"/>
            </a:xfrm>
            <a:custGeom>
              <a:avLst/>
              <a:gdLst/>
              <a:ahLst/>
              <a:cxnLst/>
              <a:rect l="l" t="t" r="r" b="b"/>
              <a:pathLst>
                <a:path w="825638" h="135928">
                  <a:moveTo>
                    <a:pt x="41088" y="0"/>
                  </a:moveTo>
                  <a:lnTo>
                    <a:pt x="784550" y="0"/>
                  </a:lnTo>
                  <a:cubicBezTo>
                    <a:pt x="807242" y="0"/>
                    <a:pt x="825638" y="18396"/>
                    <a:pt x="825638" y="41088"/>
                  </a:cubicBezTo>
                  <a:lnTo>
                    <a:pt x="825638" y="94840"/>
                  </a:lnTo>
                  <a:cubicBezTo>
                    <a:pt x="825638" y="117533"/>
                    <a:pt x="807242" y="135928"/>
                    <a:pt x="784550" y="135928"/>
                  </a:cubicBezTo>
                  <a:lnTo>
                    <a:pt x="41088" y="135928"/>
                  </a:lnTo>
                  <a:cubicBezTo>
                    <a:pt x="18396" y="135928"/>
                    <a:pt x="0" y="117533"/>
                    <a:pt x="0" y="94840"/>
                  </a:cubicBezTo>
                  <a:lnTo>
                    <a:pt x="0" y="41088"/>
                  </a:lnTo>
                  <a:cubicBezTo>
                    <a:pt x="0" y="18396"/>
                    <a:pt x="18396" y="0"/>
                    <a:pt x="41088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90907"/>
              <a:ext cx="825638" cy="226835"/>
            </a:xfrm>
            <a:prstGeom prst="rect">
              <a:avLst/>
            </a:prstGeom>
            <a:grpFill/>
          </p:spPr>
          <p:txBody>
            <a:bodyPr lIns="56055" tIns="56055" rIns="56055" bIns="56055" rtlCol="0" anchor="ctr"/>
            <a:lstStyle/>
            <a:p>
              <a:pPr algn="ctr">
                <a:lnSpc>
                  <a:spcPts val="4550"/>
                </a:lnSpc>
              </a:pPr>
              <a:r>
                <a:rPr lang="en-US" sz="2000" b="1" dirty="0">
                  <a:solidFill>
                    <a:srgbClr val="FFFFFF"/>
                  </a:solidFill>
                  <a:latin typeface="Arial Black" panose="020B0A04020102020204" pitchFamily="34" charset="0"/>
                  <a:ea typeface="Montserrat Light Bold" panose="00000800000000000000"/>
                  <a:cs typeface="Montserrat Light Bold" panose="00000800000000000000"/>
                  <a:sym typeface="Montserrat Light Bold" panose="00000800000000000000"/>
                </a:rPr>
                <a:t>STUDY </a:t>
              </a:r>
              <a:r>
                <a:rPr lang="en-US" sz="2000" b="1" dirty="0" smtClean="0">
                  <a:solidFill>
                    <a:srgbClr val="FFFFFF"/>
                  </a:solidFill>
                  <a:latin typeface="Arial Black" panose="020B0A04020102020204" pitchFamily="34" charset="0"/>
                  <a:ea typeface="Montserrat Light Bold" panose="00000800000000000000"/>
                  <a:cs typeface="Montserrat Light Bold" panose="00000800000000000000"/>
                  <a:sym typeface="Montserrat Light Bold" panose="00000800000000000000"/>
                </a:rPr>
                <a:t>CENTRE: ENUGU</a:t>
              </a:r>
              <a:endParaRPr lang="en-US" sz="2000" b="1" dirty="0">
                <a:solidFill>
                  <a:srgbClr val="FFFFFF"/>
                </a:solidFill>
                <a:latin typeface="Arial Black" panose="020B0A04020102020204" pitchFamily="34" charset="0"/>
                <a:ea typeface="Montserrat Light Bold" panose="00000800000000000000"/>
                <a:cs typeface="Montserrat Light Bold" panose="00000800000000000000"/>
                <a:sym typeface="Montserrat Light Bold" panose="00000800000000000000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858000" y="6896100"/>
            <a:ext cx="4800600" cy="990600"/>
            <a:chOff x="0" y="0"/>
            <a:chExt cx="825638" cy="133580"/>
          </a:xfrm>
          <a:solidFill>
            <a:schemeClr val="accent3">
              <a:lumMod val="50000"/>
            </a:schemeClr>
          </a:solidFill>
        </p:grpSpPr>
        <p:sp>
          <p:nvSpPr>
            <p:cNvPr id="42" name="Freeform 42"/>
            <p:cNvSpPr/>
            <p:nvPr/>
          </p:nvSpPr>
          <p:spPr>
            <a:xfrm>
              <a:off x="0" y="0"/>
              <a:ext cx="825638" cy="133580"/>
            </a:xfrm>
            <a:custGeom>
              <a:avLst/>
              <a:gdLst/>
              <a:ahLst/>
              <a:cxnLst/>
              <a:rect l="l" t="t" r="r" b="b"/>
              <a:pathLst>
                <a:path w="825638" h="133580">
                  <a:moveTo>
                    <a:pt x="40716" y="0"/>
                  </a:moveTo>
                  <a:lnTo>
                    <a:pt x="784922" y="0"/>
                  </a:lnTo>
                  <a:cubicBezTo>
                    <a:pt x="807409" y="0"/>
                    <a:pt x="825638" y="18229"/>
                    <a:pt x="825638" y="40716"/>
                  </a:cubicBezTo>
                  <a:lnTo>
                    <a:pt x="825638" y="92864"/>
                  </a:lnTo>
                  <a:cubicBezTo>
                    <a:pt x="825638" y="115351"/>
                    <a:pt x="807409" y="133580"/>
                    <a:pt x="784922" y="133580"/>
                  </a:cubicBezTo>
                  <a:lnTo>
                    <a:pt x="40716" y="133580"/>
                  </a:lnTo>
                  <a:cubicBezTo>
                    <a:pt x="18229" y="133580"/>
                    <a:pt x="0" y="115351"/>
                    <a:pt x="0" y="92864"/>
                  </a:cubicBezTo>
                  <a:lnTo>
                    <a:pt x="0" y="40716"/>
                  </a:lnTo>
                  <a:cubicBezTo>
                    <a:pt x="0" y="18229"/>
                    <a:pt x="18229" y="0"/>
                    <a:pt x="40716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19050"/>
              <a:ext cx="825638" cy="152630"/>
            </a:xfrm>
            <a:prstGeom prst="rect">
              <a:avLst/>
            </a:prstGeom>
            <a:grpFill/>
          </p:spPr>
          <p:txBody>
            <a:bodyPr lIns="56055" tIns="56055" rIns="56055" bIns="56055" rtlCol="0" anchor="ctr"/>
            <a:lstStyle/>
            <a:p>
              <a:pPr algn="ctr">
                <a:lnSpc>
                  <a:spcPts val="4550"/>
                </a:lnSpc>
              </a:pPr>
              <a:r>
                <a:rPr lang="en-US" sz="2000" b="1" dirty="0" smtClean="0">
                  <a:solidFill>
                    <a:srgbClr val="FFFFFF"/>
                  </a:solidFill>
                  <a:latin typeface="Arial Black" panose="020B0A04020102020204" pitchFamily="34" charset="0"/>
                  <a:ea typeface="Montserrat Light Bold" panose="00000800000000000000"/>
                  <a:cs typeface="Montserrat Light Bold" panose="00000800000000000000"/>
                  <a:sym typeface="Montserrat Light Bold" panose="00000800000000000000"/>
                </a:rPr>
                <a:t>ZONE: SOUTH EAST</a:t>
              </a:r>
              <a:endParaRPr lang="en-US" sz="2000" b="1" dirty="0">
                <a:solidFill>
                  <a:srgbClr val="FFFFFF"/>
                </a:solidFill>
                <a:latin typeface="Arial Black" panose="020B0A04020102020204" pitchFamily="34" charset="0"/>
                <a:ea typeface="Montserrat Light Bold" panose="00000800000000000000"/>
                <a:cs typeface="Montserrat Light Bold" panose="00000800000000000000"/>
                <a:sym typeface="Montserrat Light Bold" panose="00000800000000000000"/>
              </a:endParaRP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6858000" y="8191500"/>
            <a:ext cx="4800600" cy="1295400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lIns="54362" tIns="54362" rIns="54362" bIns="54362" rtlCol="0" anchor="ctr"/>
          <a:lstStyle/>
          <a:p>
            <a:pPr algn="ctr">
              <a:lnSpc>
                <a:spcPts val="4550"/>
              </a:lnSpc>
            </a:pPr>
            <a:r>
              <a:rPr lang="en-US" b="1" dirty="0" smtClean="0">
                <a:solidFill>
                  <a:srgbClr val="FFFFFF"/>
                </a:solidFill>
                <a:latin typeface="Arial Black" panose="020B0A04020102020204" pitchFamily="34" charset="0"/>
                <a:ea typeface="Montserrat Light Bold" panose="00000800000000000000"/>
                <a:cs typeface="Montserrat Light Bold" panose="00000800000000000000"/>
                <a:sym typeface="Montserrat Light Bold" panose="00000800000000000000"/>
              </a:rPr>
              <a:t>EMAIL: NOU252748203@NOUN.EDU.NG</a:t>
            </a:r>
            <a:endParaRPr lang="en-US" b="1" dirty="0">
              <a:solidFill>
                <a:srgbClr val="FFFFFF"/>
              </a:solidFill>
              <a:latin typeface="Arial Black" panose="020B0A04020102020204" pitchFamily="34" charset="0"/>
              <a:ea typeface="Montserrat Light Bold" panose="00000800000000000000"/>
              <a:cs typeface="Montserrat Light Bold" panose="00000800000000000000"/>
              <a:sym typeface="Montserrat Light Bold" panose="00000800000000000000"/>
            </a:endParaRPr>
          </a:p>
        </p:txBody>
      </p:sp>
      <p:grpSp>
        <p:nvGrpSpPr>
          <p:cNvPr id="47" name="Group 47"/>
          <p:cNvGrpSpPr/>
          <p:nvPr/>
        </p:nvGrpSpPr>
        <p:grpSpPr>
          <a:xfrm>
            <a:off x="1219200" y="8343900"/>
            <a:ext cx="3962400" cy="1143000"/>
            <a:chOff x="0" y="0"/>
            <a:chExt cx="825638" cy="135928"/>
          </a:xfrm>
          <a:solidFill>
            <a:schemeClr val="accent3">
              <a:lumMod val="50000"/>
            </a:schemeClr>
          </a:solidFill>
        </p:grpSpPr>
        <p:sp>
          <p:nvSpPr>
            <p:cNvPr id="48" name="Freeform 48"/>
            <p:cNvSpPr/>
            <p:nvPr/>
          </p:nvSpPr>
          <p:spPr>
            <a:xfrm>
              <a:off x="0" y="0"/>
              <a:ext cx="825638" cy="135928"/>
            </a:xfrm>
            <a:custGeom>
              <a:avLst/>
              <a:gdLst/>
              <a:ahLst/>
              <a:cxnLst/>
              <a:rect l="l" t="t" r="r" b="b"/>
              <a:pathLst>
                <a:path w="825638" h="135928">
                  <a:moveTo>
                    <a:pt x="40616" y="0"/>
                  </a:moveTo>
                  <a:lnTo>
                    <a:pt x="785022" y="0"/>
                  </a:lnTo>
                  <a:cubicBezTo>
                    <a:pt x="807453" y="0"/>
                    <a:pt x="825638" y="18184"/>
                    <a:pt x="825638" y="40616"/>
                  </a:cubicBezTo>
                  <a:lnTo>
                    <a:pt x="825638" y="95313"/>
                  </a:lnTo>
                  <a:cubicBezTo>
                    <a:pt x="825638" y="117744"/>
                    <a:pt x="807453" y="135928"/>
                    <a:pt x="785022" y="135928"/>
                  </a:cubicBezTo>
                  <a:lnTo>
                    <a:pt x="40616" y="135928"/>
                  </a:lnTo>
                  <a:cubicBezTo>
                    <a:pt x="18184" y="135928"/>
                    <a:pt x="0" y="117744"/>
                    <a:pt x="0" y="95313"/>
                  </a:cubicBezTo>
                  <a:lnTo>
                    <a:pt x="0" y="40616"/>
                  </a:lnTo>
                  <a:cubicBezTo>
                    <a:pt x="0" y="18184"/>
                    <a:pt x="18184" y="0"/>
                    <a:pt x="40616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19050"/>
              <a:ext cx="825638" cy="154978"/>
            </a:xfrm>
            <a:prstGeom prst="rect">
              <a:avLst/>
            </a:prstGeom>
            <a:grpFill/>
          </p:spPr>
          <p:txBody>
            <a:bodyPr lIns="54362" tIns="54362" rIns="54362" bIns="54362" rtlCol="0" anchor="ctr"/>
            <a:lstStyle/>
            <a:p>
              <a:pPr algn="ctr">
                <a:lnSpc>
                  <a:spcPts val="3120"/>
                </a:lnSpc>
              </a:pPr>
              <a:endParaRPr lang="en-US" sz="2400" b="1" dirty="0">
                <a:solidFill>
                  <a:srgbClr val="FFFFFF"/>
                </a:solidFill>
                <a:latin typeface="Arial Black" panose="020B0A04020102020204" pitchFamily="34" charset="0"/>
                <a:ea typeface="Montserrat Light Bold" panose="00000800000000000000"/>
                <a:cs typeface="Montserrat Light Bold" panose="00000800000000000000"/>
                <a:sym typeface="Montserrat Light Bold" panose="00000800000000000000"/>
              </a:endParaRPr>
            </a:p>
            <a:p>
              <a:pPr algn="ctr">
                <a:lnSpc>
                  <a:spcPts val="3120"/>
                </a:lnSpc>
              </a:pPr>
              <a:r>
                <a:rPr lang="en-US" sz="2400" b="1" dirty="0">
                  <a:solidFill>
                    <a:srgbClr val="FFFFFF"/>
                  </a:solidFill>
                  <a:latin typeface="Arial Black" panose="020B0A04020102020204" pitchFamily="34" charset="0"/>
                  <a:ea typeface="Montserrat Light Bold" panose="00000800000000000000"/>
                  <a:cs typeface="Montserrat Light Bold" panose="00000800000000000000"/>
                  <a:sym typeface="Montserrat Light Bold" panose="00000800000000000000"/>
                </a:rPr>
                <a:t>FOCUSED </a:t>
              </a:r>
              <a:r>
                <a:rPr lang="en-US" sz="2400" b="1" dirty="0" smtClean="0">
                  <a:solidFill>
                    <a:srgbClr val="FFFFFF"/>
                  </a:solidFill>
                  <a:latin typeface="Arial Black" panose="020B0A04020102020204" pitchFamily="34" charset="0"/>
                  <a:ea typeface="Montserrat Light Bold" panose="00000800000000000000"/>
                  <a:cs typeface="Montserrat Light Bold" panose="00000800000000000000"/>
                  <a:sym typeface="Montserrat Light Bold" panose="00000800000000000000"/>
                </a:rPr>
                <a:t>SDG: SDG4, SDG8 &amp; SDG10</a:t>
              </a:r>
              <a:endParaRPr lang="en-US" sz="2400" b="1" dirty="0">
                <a:solidFill>
                  <a:srgbClr val="FFFFFF"/>
                </a:solidFill>
                <a:latin typeface="Arial Black" panose="020B0A04020102020204" pitchFamily="34" charset="0"/>
                <a:ea typeface="Montserrat Light Bold" panose="00000800000000000000"/>
                <a:cs typeface="Montserrat Light Bold" panose="00000800000000000000"/>
                <a:sym typeface="Montserrat Light Bold" panose="00000800000000000000"/>
              </a:endParaRPr>
            </a:p>
            <a:p>
              <a:pPr algn="ctr">
                <a:lnSpc>
                  <a:spcPts val="3120"/>
                </a:lnSpc>
              </a:pPr>
              <a:endParaRPr lang="en-US" sz="2400" dirty="0">
                <a:solidFill>
                  <a:srgbClr val="FFFFFF"/>
                </a:solidFill>
                <a:latin typeface="Montserrat Light" panose="00000400000000000000"/>
                <a:ea typeface="Montserrat Light" panose="00000400000000000000"/>
                <a:cs typeface="Montserrat Light" panose="00000400000000000000"/>
                <a:sym typeface="Montserrat Light" panose="00000400000000000000"/>
              </a:endParaRPr>
            </a:p>
          </p:txBody>
        </p:sp>
      </p:grpSp>
      <p:sp>
        <p:nvSpPr>
          <p:cNvPr id="50" name="Freeform 50"/>
          <p:cNvSpPr/>
          <p:nvPr/>
        </p:nvSpPr>
        <p:spPr>
          <a:xfrm>
            <a:off x="809262" y="542959"/>
            <a:ext cx="837310" cy="978203"/>
          </a:xfrm>
          <a:custGeom>
            <a:avLst/>
            <a:gdLst/>
            <a:ahLst/>
            <a:cxnLst/>
            <a:rect l="l" t="t" r="r" b="b"/>
            <a:pathLst>
              <a:path w="837310" h="978203">
                <a:moveTo>
                  <a:pt x="0" y="0"/>
                </a:moveTo>
                <a:lnTo>
                  <a:pt x="837310" y="0"/>
                </a:lnTo>
                <a:lnTo>
                  <a:pt x="837310" y="978203"/>
                </a:lnTo>
                <a:lnTo>
                  <a:pt x="0" y="978203"/>
                </a:lnTo>
                <a:lnTo>
                  <a:pt x="0" y="0"/>
                </a:lnTo>
                <a:close/>
              </a:path>
            </a:pathLst>
          </a:custGeom>
          <a:blipFill>
            <a:blip r:embed="rId10" cstate="print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1" name="Group 51"/>
          <p:cNvGrpSpPr/>
          <p:nvPr/>
        </p:nvGrpSpPr>
        <p:grpSpPr>
          <a:xfrm>
            <a:off x="12649201" y="8267700"/>
            <a:ext cx="6172199" cy="1905000"/>
            <a:chOff x="-38242" y="-15962"/>
            <a:chExt cx="1464552" cy="411804"/>
          </a:xfrm>
        </p:grpSpPr>
        <p:sp>
          <p:nvSpPr>
            <p:cNvPr id="52" name="Freeform 52"/>
            <p:cNvSpPr/>
            <p:nvPr/>
          </p:nvSpPr>
          <p:spPr>
            <a:xfrm>
              <a:off x="0" y="16143"/>
              <a:ext cx="1426310" cy="346786"/>
            </a:xfrm>
            <a:custGeom>
              <a:avLst/>
              <a:gdLst/>
              <a:ahLst/>
              <a:cxnLst/>
              <a:rect l="l" t="t" r="r" b="b"/>
              <a:pathLst>
                <a:path w="1426310" h="218683">
                  <a:moveTo>
                    <a:pt x="23183" y="0"/>
                  </a:moveTo>
                  <a:lnTo>
                    <a:pt x="1403127" y="0"/>
                  </a:lnTo>
                  <a:cubicBezTo>
                    <a:pt x="1409276" y="0"/>
                    <a:pt x="1415172" y="2443"/>
                    <a:pt x="1419520" y="6790"/>
                  </a:cubicBezTo>
                  <a:cubicBezTo>
                    <a:pt x="1423868" y="11138"/>
                    <a:pt x="1426310" y="17035"/>
                    <a:pt x="1426310" y="23183"/>
                  </a:cubicBezTo>
                  <a:lnTo>
                    <a:pt x="1426310" y="195500"/>
                  </a:lnTo>
                  <a:cubicBezTo>
                    <a:pt x="1426310" y="201648"/>
                    <a:pt x="1423868" y="207545"/>
                    <a:pt x="1419520" y="211892"/>
                  </a:cubicBezTo>
                  <a:cubicBezTo>
                    <a:pt x="1415172" y="216240"/>
                    <a:pt x="1409276" y="218683"/>
                    <a:pt x="1403127" y="218683"/>
                  </a:cubicBezTo>
                  <a:lnTo>
                    <a:pt x="23183" y="218683"/>
                  </a:lnTo>
                  <a:cubicBezTo>
                    <a:pt x="17035" y="218683"/>
                    <a:pt x="11138" y="216240"/>
                    <a:pt x="6790" y="211892"/>
                  </a:cubicBezTo>
                  <a:cubicBezTo>
                    <a:pt x="2443" y="207545"/>
                    <a:pt x="0" y="201648"/>
                    <a:pt x="0" y="195500"/>
                  </a:cubicBezTo>
                  <a:lnTo>
                    <a:pt x="0" y="23183"/>
                  </a:lnTo>
                  <a:cubicBezTo>
                    <a:pt x="0" y="17035"/>
                    <a:pt x="2443" y="11138"/>
                    <a:pt x="6790" y="6790"/>
                  </a:cubicBezTo>
                  <a:cubicBezTo>
                    <a:pt x="11138" y="2443"/>
                    <a:pt x="17035" y="0"/>
                    <a:pt x="23183" y="0"/>
                  </a:cubicBezTo>
                  <a:close/>
                </a:path>
              </a:pathLst>
            </a:custGeom>
            <a:solidFill>
              <a:srgbClr val="FFA91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-38242" y="-15962"/>
              <a:ext cx="1426310" cy="411804"/>
            </a:xfrm>
            <a:prstGeom prst="rect">
              <a:avLst/>
            </a:prstGeom>
          </p:spPr>
          <p:txBody>
            <a:bodyPr lIns="54362" tIns="54362" rIns="54362" bIns="54362" rtlCol="0" anchor="ctr"/>
            <a:lstStyle/>
            <a:p>
              <a:pPr algn="ctr">
                <a:lnSpc>
                  <a:spcPts val="4550"/>
                </a:lnSpc>
              </a:pPr>
              <a:r>
                <a:rPr lang="en-US" sz="2400" b="1" dirty="0" smtClean="0">
                  <a:solidFill>
                    <a:srgbClr val="FFFFFF"/>
                  </a:solidFill>
                  <a:latin typeface="Arial Black" panose="020B0A04020102020204" pitchFamily="34" charset="0"/>
                  <a:ea typeface="Montserrat Light Bold" panose="00000800000000000000"/>
                  <a:cs typeface="Montserrat Light Bold" panose="00000800000000000000"/>
                  <a:sym typeface="Montserrat Light Bold" panose="00000800000000000000"/>
                </a:rPr>
                <a:t>AKABUEZE ROSEMARY CHISOM</a:t>
              </a:r>
              <a:endParaRPr lang="en-US" sz="2400" b="1" dirty="0">
                <a:solidFill>
                  <a:srgbClr val="FFFFFF"/>
                </a:solidFill>
                <a:latin typeface="Arial Black" panose="020B0A04020102020204" pitchFamily="34" charset="0"/>
                <a:ea typeface="Montserrat Light Bold" panose="00000800000000000000"/>
                <a:cs typeface="Montserrat Light Bold" panose="00000800000000000000"/>
                <a:sym typeface="Montserrat Light Bold" panose="00000800000000000000"/>
              </a:endParaRPr>
            </a:p>
            <a:p>
              <a:pPr algn="ctr">
                <a:lnSpc>
                  <a:spcPts val="4550"/>
                </a:lnSpc>
              </a:pPr>
              <a:r>
                <a:rPr lang="en-US" sz="3500" b="1" dirty="0">
                  <a:solidFill>
                    <a:srgbClr val="FFFFFF"/>
                  </a:solidFill>
                  <a:latin typeface="Arial Black" panose="020B0A04020102020204" pitchFamily="34" charset="0"/>
                  <a:ea typeface="Montserrat Light Bold" panose="00000800000000000000"/>
                  <a:cs typeface="Montserrat Light Bold" panose="00000800000000000000"/>
                  <a:sym typeface="Montserrat Light Bold" panose="00000800000000000000"/>
                </a:rPr>
                <a:t>BPIN – </a:t>
              </a:r>
              <a:r>
                <a:rPr lang="en-US" sz="3500" b="1" dirty="0" smtClean="0">
                  <a:solidFill>
                    <a:srgbClr val="FFFFFF"/>
                  </a:solidFill>
                  <a:latin typeface="Arial Black" panose="020B0A04020102020204" pitchFamily="34" charset="0"/>
                  <a:ea typeface="Montserrat Light Bold" panose="00000800000000000000"/>
                  <a:cs typeface="Montserrat Light Bold" panose="00000800000000000000"/>
                  <a:sym typeface="Montserrat Light Bold" panose="00000800000000000000"/>
                </a:rPr>
                <a:t>SE_0155</a:t>
              </a:r>
              <a:endParaRPr lang="en-US" sz="3500" b="1" dirty="0">
                <a:solidFill>
                  <a:srgbClr val="FFFFFF"/>
                </a:solidFill>
                <a:latin typeface="Arial Black" panose="020B0A04020102020204" pitchFamily="34" charset="0"/>
                <a:ea typeface="Montserrat Light Bold" panose="00000800000000000000"/>
                <a:cs typeface="Montserrat Light Bold" panose="00000800000000000000"/>
                <a:sym typeface="Montserrat Light Bold" panose="00000800000000000000"/>
              </a:endParaRPr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2239169" y="1030189"/>
            <a:ext cx="8836417" cy="341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5"/>
              </a:lnSpc>
            </a:pPr>
            <a:r>
              <a:rPr lang="en-US" sz="1940" b="1" spc="96" dirty="0">
                <a:solidFill>
                  <a:srgbClr val="FBB111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rPr>
              <a:t>DIRECTORATE FOR ENTREPRENEURSHIP AND GENERAL STUDIES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2359301" y="1392691"/>
            <a:ext cx="8596153" cy="255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5"/>
              </a:lnSpc>
            </a:pPr>
            <a:r>
              <a:rPr lang="en-US" sz="1490" spc="74">
                <a:solidFill>
                  <a:srgbClr val="FFB716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University Village, Plot 91, Cadastral Zone, Nnamdi Azikiwe Express Way Jabi- Abuja.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894895" y="520194"/>
            <a:ext cx="10228165" cy="474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5"/>
              </a:lnSpc>
            </a:pPr>
            <a:r>
              <a:rPr lang="en-US" sz="3830" dirty="0">
                <a:solidFill>
                  <a:srgbClr val="FAFAFA"/>
                </a:solidFill>
                <a:latin typeface="Arial Rounded MT Bold" panose="020F0704030504030204" pitchFamily="34" charset="0"/>
                <a:ea typeface="Codec Pro ExtraBold" panose="00000700000000000000"/>
                <a:cs typeface="Codec Pro ExtraBold" panose="00000700000000000000"/>
                <a:sym typeface="Codec Pro ExtraBold" panose="00000700000000000000"/>
              </a:rPr>
              <a:t>NATIONAL OPEN UNIVERSITY OF NIGERIA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219200" y="3238500"/>
            <a:ext cx="3962400" cy="1477947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lIns="56055" tIns="56055" rIns="56055" bIns="56055" rtlCol="0" anchor="ctr"/>
          <a:lstStyle/>
          <a:p>
            <a:pPr>
              <a:lnSpc>
                <a:spcPts val="4550"/>
              </a:lnSpc>
            </a:pPr>
            <a:r>
              <a:rPr lang="en-US" sz="2000" b="1" dirty="0" smtClean="0">
                <a:solidFill>
                  <a:srgbClr val="FFFFFF"/>
                </a:solidFill>
                <a:latin typeface="Arial Black" panose="020B0A04020102020204" pitchFamily="34" charset="0"/>
                <a:ea typeface="Montserrat Light Bold" panose="00000800000000000000"/>
                <a:cs typeface="Montserrat Light Bold" panose="00000800000000000000"/>
                <a:sym typeface="Montserrat Light Bold" panose="00000800000000000000"/>
              </a:rPr>
              <a:t>Business Title: </a:t>
            </a:r>
            <a:r>
              <a:rPr lang="en-US" b="1" dirty="0" smtClean="0">
                <a:solidFill>
                  <a:srgbClr val="FFFFFF"/>
                </a:solidFill>
                <a:latin typeface="Arial Black" panose="020B0A04020102020204" pitchFamily="34" charset="0"/>
                <a:ea typeface="Montserrat Light Bold" panose="00000800000000000000"/>
                <a:cs typeface="Montserrat Light Bold" panose="00000800000000000000"/>
                <a:sym typeface="Montserrat Light Bold" panose="00000800000000000000"/>
              </a:rPr>
              <a:t>DIGITAL INCLUSION &amp; EMPLOYABILITY</a:t>
            </a:r>
            <a:endParaRPr lang="en-US" b="1" dirty="0">
              <a:solidFill>
                <a:srgbClr val="FFFFFF"/>
              </a:solidFill>
              <a:latin typeface="Arial Black" panose="020B0A04020102020204" pitchFamily="34" charset="0"/>
              <a:ea typeface="Montserrat Light Bold" panose="00000800000000000000"/>
              <a:cs typeface="Montserrat Light Bold" panose="00000800000000000000"/>
              <a:sym typeface="Montserrat Light Bold" panose="00000800000000000000"/>
            </a:endParaRPr>
          </a:p>
        </p:txBody>
      </p:sp>
      <p:pic>
        <p:nvPicPr>
          <p:cNvPr id="44" name="Picture 43" descr="IMG-20260616-WA0069.jp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12801600" y="1790700"/>
            <a:ext cx="6019800" cy="6781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19456"/>
            <a:ext cx="1645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200" b="1" dirty="0">
                <a:solidFill>
                  <a:schemeClr val="bg1"/>
                </a:solidFill>
              </a:rPr>
              <a:t>Problem &amp; Solution</a:t>
            </a:r>
            <a:endParaRPr lang="en-US" sz="5200" dirty="0"/>
          </a:p>
        </p:txBody>
      </p:sp>
      <p:sp>
        <p:nvSpPr>
          <p:cNvPr id="3" name="Card Societal Problem"/>
          <p:cNvSpPr/>
          <p:nvPr/>
        </p:nvSpPr>
        <p:spPr>
          <a:xfrm>
            <a:off x="914400" y="2194560"/>
            <a:ext cx="8046720" cy="3200400"/>
          </a:xfrm>
          <a:prstGeom prst="rect">
            <a:avLst/>
          </a:prstGeom>
          <a:solidFill>
            <a:schemeClr val="bg1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194560"/>
            <a:ext cx="146304" cy="320040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80160" y="2340864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chemeClr val="tx2"/>
                </a:solidFill>
              </a:rPr>
              <a:t>Societal Problem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926080"/>
            <a:ext cx="7498080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dirty="0" smtClean="0"/>
              <a:t>1. Many </a:t>
            </a:r>
            <a:r>
              <a:rPr lang="en-US" sz="2400" dirty="0"/>
              <a:t>students hold degrees but lack vital </a:t>
            </a:r>
            <a:r>
              <a:rPr lang="en-US" sz="2400" dirty="0" smtClean="0"/>
              <a:t>digital </a:t>
            </a:r>
            <a:r>
              <a:rPr lang="en-US" sz="2400" dirty="0"/>
              <a:t>and workplace </a:t>
            </a:r>
            <a:r>
              <a:rPr lang="en-US" sz="2400" dirty="0" smtClean="0"/>
              <a:t>skills.</a:t>
            </a:r>
            <a:br>
              <a:rPr lang="en-US" sz="2400" dirty="0" smtClean="0"/>
            </a:br>
            <a:r>
              <a:rPr lang="en-US" sz="2400" dirty="0" smtClean="0"/>
              <a:t>2. Graduates face barriers </a:t>
            </a:r>
            <a:r>
              <a:rPr lang="en-US" sz="2400" dirty="0"/>
              <a:t>to employment due to limited practical training</a:t>
            </a:r>
            <a:r>
              <a:rPr lang="en-US" sz="2400" dirty="0" smtClean="0"/>
              <a:t>.</a:t>
            </a:r>
            <a:br>
              <a:rPr lang="en-US" sz="2400" dirty="0" smtClean="0"/>
            </a:br>
            <a:r>
              <a:rPr lang="en-US" sz="2400" dirty="0" smtClean="0"/>
              <a:t>3. Inadequate advancement in technical skills poses threats to employees.</a:t>
            </a:r>
            <a:endParaRPr lang="en-US" sz="2400" dirty="0"/>
          </a:p>
        </p:txBody>
      </p:sp>
      <p:sp>
        <p:nvSpPr>
          <p:cNvPr id="7" name="Card Proposed Solution"/>
          <p:cNvSpPr/>
          <p:nvPr/>
        </p:nvSpPr>
        <p:spPr>
          <a:xfrm>
            <a:off x="9326880" y="2194560"/>
            <a:ext cx="8046720" cy="3200400"/>
          </a:xfrm>
          <a:prstGeom prst="rect">
            <a:avLst/>
          </a:prstGeom>
          <a:solidFill>
            <a:schemeClr val="bg1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0" y="2194560"/>
            <a:ext cx="146304" cy="32004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92640" y="2340864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chemeClr val="tx2"/>
                </a:solidFill>
              </a:rPr>
              <a:t>Proposed Solution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9692640" y="2926080"/>
            <a:ext cx="7498080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600" dirty="0"/>
              <a:t>An accessible digital platform offering practical digital and career guidance, mentorship, real-world projects, portfolio development and entrepreneurship support, turning knowledge into demonstrable skills, jobs and sustainable income.</a:t>
            </a:r>
          </a:p>
        </p:txBody>
      </p:sp>
      <p:sp>
        <p:nvSpPr>
          <p:cNvPr id="15" name="Card Vision"/>
          <p:cNvSpPr/>
          <p:nvPr/>
        </p:nvSpPr>
        <p:spPr>
          <a:xfrm>
            <a:off x="7239000" y="5676900"/>
            <a:ext cx="4572000" cy="3558540"/>
          </a:xfrm>
          <a:prstGeom prst="rect">
            <a:avLst/>
          </a:prstGeom>
          <a:solidFill>
            <a:schemeClr val="bg1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24700" y="5676900"/>
            <a:ext cx="114300" cy="355854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72350" y="5822891"/>
            <a:ext cx="3219450" cy="54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chemeClr val="tx2"/>
                </a:solidFill>
              </a:rPr>
              <a:t>Vision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7391400" y="6438900"/>
            <a:ext cx="4143375" cy="2682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600" dirty="0"/>
              <a:t>A Nigeria where every </a:t>
            </a:r>
            <a:r>
              <a:rPr lang="en-US" sz="2600" dirty="0" smtClean="0"/>
              <a:t>youth can </a:t>
            </a:r>
            <a:r>
              <a:rPr lang="en-US" sz="2600" dirty="0"/>
              <a:t>turn education into employable skills and income.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12115800" y="5669280"/>
            <a:ext cx="5257800" cy="3566160"/>
            <a:chOff x="11704320" y="5669280"/>
            <a:chExt cx="5669280" cy="3566160"/>
          </a:xfrm>
        </p:grpSpPr>
        <p:sp>
          <p:nvSpPr>
            <p:cNvPr id="19" name="Card Mission"/>
            <p:cNvSpPr/>
            <p:nvPr/>
          </p:nvSpPr>
          <p:spPr>
            <a:xfrm>
              <a:off x="11704320" y="5669280"/>
              <a:ext cx="5669280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D8DEE6"/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>
              <a:off x="11704320" y="5669280"/>
              <a:ext cx="146304" cy="3566160"/>
            </a:xfrm>
            <a:prstGeom prst="rect">
              <a:avLst/>
            </a:prstGeom>
            <a:solidFill>
              <a:schemeClr val="tx2"/>
            </a:solidFill>
            <a:ln/>
          </p:spPr>
        </p:sp>
        <p:sp>
          <p:nvSpPr>
            <p:cNvPr id="21" name="Text 19"/>
            <p:cNvSpPr txBox="1"/>
            <p:nvPr/>
          </p:nvSpPr>
          <p:spPr>
            <a:xfrm>
              <a:off x="12070080" y="5815584"/>
              <a:ext cx="5120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600" b="1" dirty="0">
                  <a:solidFill>
                    <a:schemeClr val="tx2"/>
                  </a:solidFill>
                </a:rPr>
                <a:t>Mission</a:t>
              </a:r>
              <a:endParaRPr lang="en-US" sz="2600" dirty="0"/>
            </a:p>
          </p:txBody>
        </p:sp>
        <p:sp>
          <p:nvSpPr>
            <p:cNvPr id="22" name="Text 20"/>
            <p:cNvSpPr txBox="1"/>
            <p:nvPr/>
          </p:nvSpPr>
          <p:spPr>
            <a:xfrm>
              <a:off x="12070080" y="6400800"/>
              <a:ext cx="5120640" cy="2688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2600" dirty="0"/>
                <a:t>To bridge the gap between certificates and careers through practical, </a:t>
              </a:r>
              <a:r>
                <a:rPr lang="en-US" sz="2600" dirty="0" smtClean="0"/>
                <a:t>affordable and mentor-led </a:t>
              </a:r>
              <a:r>
                <a:rPr lang="en-US" sz="2600" dirty="0"/>
                <a:t>digital skills.</a:t>
              </a:r>
            </a:p>
          </p:txBody>
        </p:sp>
      </p:grp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642080" y="9656064"/>
            <a:ext cx="731520" cy="4572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pPr algn="l"/>
              <a:t>2</a:t>
            </a:fld>
            <a:endParaRPr lang="en-US"/>
          </a:p>
        </p:txBody>
      </p:sp>
      <p:grpSp>
        <p:nvGrpSpPr>
          <p:cNvPr id="29" name="Group 28"/>
          <p:cNvGrpSpPr/>
          <p:nvPr/>
        </p:nvGrpSpPr>
        <p:grpSpPr>
          <a:xfrm>
            <a:off x="914400" y="5669280"/>
            <a:ext cx="6019800" cy="3573780"/>
            <a:chOff x="914400" y="5669280"/>
            <a:chExt cx="6019800" cy="3573780"/>
          </a:xfrm>
        </p:grpSpPr>
        <p:sp>
          <p:nvSpPr>
            <p:cNvPr id="11" name="Card Related SDGs"/>
            <p:cNvSpPr/>
            <p:nvPr/>
          </p:nvSpPr>
          <p:spPr>
            <a:xfrm>
              <a:off x="990600" y="5676900"/>
              <a:ext cx="5943600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D8DEE6"/>
              </a:solidFill>
              <a:prstDash val="solid"/>
            </a:ln>
          </p:spPr>
        </p:sp>
        <p:sp>
          <p:nvSpPr>
            <p:cNvPr id="12" name="Shape 10"/>
            <p:cNvSpPr/>
            <p:nvPr/>
          </p:nvSpPr>
          <p:spPr>
            <a:xfrm>
              <a:off x="914400" y="5669280"/>
              <a:ext cx="198120" cy="3566160"/>
            </a:xfrm>
            <a:prstGeom prst="rect">
              <a:avLst/>
            </a:prstGeom>
            <a:solidFill>
              <a:schemeClr val="accent2"/>
            </a:solidFill>
            <a:ln/>
          </p:spPr>
        </p:sp>
        <p:sp>
          <p:nvSpPr>
            <p:cNvPr id="13" name="Text 11"/>
            <p:cNvSpPr txBox="1"/>
            <p:nvPr/>
          </p:nvSpPr>
          <p:spPr>
            <a:xfrm>
              <a:off x="1409700" y="5815584"/>
              <a:ext cx="520065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600" b="1" dirty="0">
                  <a:solidFill>
                    <a:schemeClr val="tx2"/>
                  </a:solidFill>
                </a:rPr>
                <a:t>Related SDGs</a:t>
              </a:r>
              <a:endParaRPr lang="en-US" sz="2600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295400" y="6438900"/>
              <a:ext cx="5257800" cy="26161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2200" dirty="0" smtClean="0"/>
                <a:t>1. SDG 4: Quality Education: Offers practical digital and workplace ready competencies.</a:t>
              </a:r>
            </a:p>
            <a:p>
              <a:pPr>
                <a:spcAft>
                  <a:spcPts val="600"/>
                </a:spcAft>
              </a:pPr>
              <a:r>
                <a:rPr lang="en-US" sz="2200" dirty="0" smtClean="0"/>
                <a:t>2. SDG8: Decent Work &amp; Economic Growth: Ability to turn graduates into immediate economic contributors.</a:t>
              </a:r>
            </a:p>
            <a:p>
              <a:r>
                <a:rPr lang="en-US" sz="2200" dirty="0" smtClean="0"/>
                <a:t>3. SDG 10: Reduced Inequalities: Provides affordable platform for underserved youths</a:t>
              </a:r>
              <a:r>
                <a:rPr lang="en-US" sz="2000" dirty="0" smtClean="0"/>
                <a:t>.</a:t>
              </a:r>
              <a:endParaRPr lang="en-US" sz="2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19456"/>
            <a:ext cx="1645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200" b="1" dirty="0">
                <a:solidFill>
                  <a:schemeClr val="bg1"/>
                </a:solidFill>
              </a:rPr>
              <a:t>Innovativeness of the Proposed Solution</a:t>
            </a:r>
            <a:endParaRPr lang="en-US" sz="5200" dirty="0"/>
          </a:p>
        </p:txBody>
      </p:sp>
      <p:sp>
        <p:nvSpPr>
          <p:cNvPr id="7" name="Card 21st Century Tools &amp; Tech"/>
          <p:cNvSpPr/>
          <p:nvPr/>
        </p:nvSpPr>
        <p:spPr>
          <a:xfrm>
            <a:off x="9326880" y="2118360"/>
            <a:ext cx="8046720" cy="4777740"/>
          </a:xfrm>
          <a:prstGeom prst="rect">
            <a:avLst/>
          </a:prstGeom>
          <a:solidFill>
            <a:schemeClr val="bg1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20200" y="2118360"/>
            <a:ext cx="152400" cy="477774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92640" y="2264664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chemeClr val="tx2"/>
                </a:solidFill>
              </a:rPr>
              <a:t>21st Century Tools &amp; Tech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9692640" y="2849880"/>
            <a:ext cx="7498080" cy="404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2600" dirty="0"/>
              <a:t>Generative AI for learning, CV and portfolio building</a:t>
            </a:r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2600" dirty="0"/>
              <a:t>Cloud platform and mobile-friendly web app</a:t>
            </a:r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2600" dirty="0"/>
              <a:t>Video, WhatsApp and online mentoring</a:t>
            </a:r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2600" dirty="0"/>
              <a:t>GitHub and online portfolio sites</a:t>
            </a:r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2600" dirty="0"/>
              <a:t>No-code / AI automation for client projects</a:t>
            </a:r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2600" dirty="0"/>
              <a:t>Digital payments and analytics to track outcomes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642080" y="9656064"/>
            <a:ext cx="731520" cy="4572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pPr algn="l"/>
              <a:t>3</a:t>
            </a:fld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905000" y="7124700"/>
            <a:ext cx="152400" cy="2438400"/>
          </a:xfrm>
          <a:prstGeom prst="rect">
            <a:avLst/>
          </a:prstGeom>
          <a:solidFill>
            <a:schemeClr val="accent2"/>
          </a:solidFill>
          <a:ln/>
        </p:spPr>
      </p:sp>
      <p:grpSp>
        <p:nvGrpSpPr>
          <p:cNvPr id="20" name="Group 19"/>
          <p:cNvGrpSpPr/>
          <p:nvPr/>
        </p:nvGrpSpPr>
        <p:grpSpPr>
          <a:xfrm>
            <a:off x="838200" y="2095500"/>
            <a:ext cx="8122920" cy="4853940"/>
            <a:chOff x="838200" y="2194560"/>
            <a:chExt cx="8122920" cy="4853940"/>
          </a:xfrm>
        </p:grpSpPr>
        <p:sp>
          <p:nvSpPr>
            <p:cNvPr id="3" name="Card Unique Elements"/>
            <p:cNvSpPr/>
            <p:nvPr/>
          </p:nvSpPr>
          <p:spPr>
            <a:xfrm>
              <a:off x="914400" y="2194560"/>
              <a:ext cx="8046720" cy="47777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D8DEE6"/>
              </a:solidFill>
              <a:prstDash val="solid"/>
            </a:ln>
          </p:spPr>
        </p:sp>
        <p:sp>
          <p:nvSpPr>
            <p:cNvPr id="4" name="Shape 2"/>
            <p:cNvSpPr/>
            <p:nvPr/>
          </p:nvSpPr>
          <p:spPr>
            <a:xfrm>
              <a:off x="838200" y="2194560"/>
              <a:ext cx="152400" cy="4777740"/>
            </a:xfrm>
            <a:prstGeom prst="rect">
              <a:avLst/>
            </a:prstGeom>
            <a:solidFill>
              <a:schemeClr val="accent1"/>
            </a:solidFill>
            <a:ln/>
          </p:spPr>
        </p:sp>
        <p:sp>
          <p:nvSpPr>
            <p:cNvPr id="5" name="Text 3"/>
            <p:cNvSpPr txBox="1"/>
            <p:nvPr/>
          </p:nvSpPr>
          <p:spPr>
            <a:xfrm>
              <a:off x="1280160" y="2340864"/>
              <a:ext cx="749808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3000" b="1" dirty="0">
                  <a:solidFill>
                    <a:schemeClr val="tx2"/>
                  </a:solidFill>
                </a:rPr>
                <a:t>Unique Elements</a:t>
              </a:r>
              <a:endParaRPr lang="en-US" sz="3000" dirty="0"/>
            </a:p>
          </p:txBody>
        </p:sp>
        <p:sp>
          <p:nvSpPr>
            <p:cNvPr id="6" name="Text 4"/>
            <p:cNvSpPr txBox="1"/>
            <p:nvPr/>
          </p:nvSpPr>
          <p:spPr>
            <a:xfrm>
              <a:off x="1280160" y="2926080"/>
              <a:ext cx="7498080" cy="41224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685800" indent="-685800">
                <a:spcAft>
                  <a:spcPts val="600"/>
                </a:spcAft>
                <a:buSzPct val="100000"/>
                <a:buChar char="•"/>
              </a:pPr>
              <a:r>
                <a:rPr lang="en-US" sz="2600" dirty="0"/>
                <a:t>Significant improvement on theory-heavy courses: learners build real projects, not just certificates</a:t>
              </a:r>
            </a:p>
            <a:p>
              <a:pPr marL="685800" indent="-685800">
                <a:spcAft>
                  <a:spcPts val="600"/>
                </a:spcAft>
                <a:buSzPct val="100000"/>
                <a:buChar char="•"/>
              </a:pPr>
              <a:r>
                <a:rPr lang="en-US" sz="2600" dirty="0"/>
                <a:t>One platform combining skills, mentorship, portfolio and business support</a:t>
              </a:r>
            </a:p>
            <a:p>
              <a:pPr marL="685800" indent="-685800">
                <a:spcAft>
                  <a:spcPts val="600"/>
                </a:spcAft>
                <a:buSzPct val="100000"/>
                <a:buChar char="•"/>
              </a:pPr>
              <a:r>
                <a:rPr lang="en-US" sz="2600" dirty="0"/>
                <a:t>Designed for low-data, mobile-first access in Nigeria</a:t>
              </a:r>
            </a:p>
            <a:p>
              <a:pPr marL="685800" indent="-685800">
                <a:spcAft>
                  <a:spcPts val="600"/>
                </a:spcAft>
                <a:buSzPct val="100000"/>
                <a:buChar char="•"/>
              </a:pPr>
              <a:r>
                <a:rPr lang="en-US" sz="2600" dirty="0"/>
                <a:t>Outcome-driven: every learner exits with a verified portfolio</a:t>
              </a:r>
            </a:p>
            <a:p>
              <a:pPr marL="685800" indent="-685800">
                <a:spcAft>
                  <a:spcPts val="600"/>
                </a:spcAft>
                <a:buSzPct val="100000"/>
                <a:buChar char="•"/>
              </a:pPr>
              <a:r>
                <a:rPr lang="en-US" sz="2600" dirty="0"/>
                <a:t>Affordable, pay-per-service pricing for students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2057400" y="7124705"/>
            <a:ext cx="14249400" cy="2877470"/>
            <a:chOff x="4114800" y="7200900"/>
            <a:chExt cx="8991600" cy="2689198"/>
          </a:xfrm>
        </p:grpSpPr>
        <p:sp>
          <p:nvSpPr>
            <p:cNvPr id="12" name="Card Related SDGs"/>
            <p:cNvSpPr/>
            <p:nvPr/>
          </p:nvSpPr>
          <p:spPr>
            <a:xfrm>
              <a:off x="4114800" y="7200900"/>
              <a:ext cx="8991600" cy="227885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D8DEE6"/>
              </a:solidFill>
              <a:prstDash val="solid"/>
            </a:ln>
          </p:spPr>
        </p:sp>
        <p:sp>
          <p:nvSpPr>
            <p:cNvPr id="14" name="Text 11"/>
            <p:cNvSpPr txBox="1"/>
            <p:nvPr/>
          </p:nvSpPr>
          <p:spPr>
            <a:xfrm>
              <a:off x="6567055" y="7272113"/>
              <a:ext cx="3221589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600" b="1" dirty="0" smtClean="0">
                  <a:solidFill>
                    <a:schemeClr val="tx2"/>
                  </a:solidFill>
                </a:rPr>
                <a:t>Evidence of Online Visibility</a:t>
              </a:r>
              <a:endParaRPr lang="en-US" sz="2600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220719" y="8696397"/>
              <a:ext cx="2915974" cy="11937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2400" dirty="0" smtClean="0">
                  <a:hlinkClick r:id="rId3"/>
                </a:rPr>
                <a:t>https://</a:t>
              </a:r>
              <a:r>
                <a:rPr lang="en-US" sz="2400" dirty="0" smtClean="0">
                  <a:hlinkClick r:id="rId3"/>
                </a:rPr>
                <a:t>www.amazon.com/dp/B0H7PJH99R</a:t>
              </a:r>
              <a:endParaRPr lang="en-US" sz="2400" dirty="0" smtClean="0"/>
            </a:p>
            <a:p>
              <a:pPr>
                <a:spcAft>
                  <a:spcPts val="600"/>
                </a:spcAft>
              </a:pPr>
              <a:endParaRPr lang="en-US" sz="2400" dirty="0" smtClean="0"/>
            </a:p>
          </p:txBody>
        </p:sp>
        <p:pic>
          <p:nvPicPr>
            <p:cNvPr id="16" name="Picture 15" descr="kindle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10967" y="8929688"/>
              <a:ext cx="769208" cy="457200"/>
            </a:xfrm>
            <a:prstGeom prst="rect">
              <a:avLst/>
            </a:prstGeom>
          </p:spPr>
        </p:pic>
        <p:pic>
          <p:nvPicPr>
            <p:cNvPr id="21" name="Picture 20" descr="linkedin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86558" y="8693944"/>
              <a:ext cx="875270" cy="762000"/>
            </a:xfrm>
            <a:prstGeom prst="rect">
              <a:avLst/>
            </a:prstGeom>
          </p:spPr>
        </p:pic>
        <p:sp>
          <p:nvSpPr>
            <p:cNvPr id="22" name="TextBox 21"/>
            <p:cNvSpPr txBox="1"/>
            <p:nvPr/>
          </p:nvSpPr>
          <p:spPr>
            <a:xfrm>
              <a:off x="9500143" y="8851105"/>
              <a:ext cx="3080191" cy="9492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>
                  <a:hlinkClick r:id="rId6"/>
                </a:rPr>
                <a:t>www.linkedin.com/in/chisom-rosemary-akabueze</a:t>
              </a:r>
              <a:endParaRPr lang="en-US" sz="2000" dirty="0" smtClean="0"/>
            </a:p>
            <a:p>
              <a:endParaRPr lang="en-US" sz="2000" dirty="0"/>
            </a:p>
          </p:txBody>
        </p:sp>
      </p:grpSp>
      <p:sp>
        <p:nvSpPr>
          <p:cNvPr id="2050" name="AutoShape 2" descr="Github Logo - Free social media icon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Github Logo - Free social media icon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7" name="Picture 26" descr="github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9448800" y="7886700"/>
            <a:ext cx="783772" cy="6096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515600" y="7810500"/>
            <a:ext cx="4800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hlinkClick r:id="rId8"/>
              </a:rPr>
              <a:t>https://rosemarychisom375.github.io/Personal-Portfolio-Site</a:t>
            </a:r>
            <a:r>
              <a:rPr lang="en-US" sz="2000" dirty="0" smtClean="0">
                <a:hlinkClick r:id="rId8"/>
              </a:rPr>
              <a:t>/</a:t>
            </a:r>
            <a:endParaRPr lang="en-US" sz="2000" dirty="0"/>
          </a:p>
          <a:p>
            <a:endParaRPr lang="en-US" sz="2000" dirty="0" smtClean="0"/>
          </a:p>
        </p:txBody>
      </p:sp>
      <p:pic>
        <p:nvPicPr>
          <p:cNvPr id="29" name="Picture 28" descr="github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286000" y="7734300"/>
            <a:ext cx="762000" cy="7620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810000" y="7886700"/>
            <a:ext cx="434340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hlinkClick r:id="rId9"/>
              </a:rPr>
              <a:t>https://</a:t>
            </a:r>
            <a:r>
              <a:rPr lang="en-US" sz="2100" dirty="0" smtClean="0">
                <a:hlinkClick r:id="rId9"/>
              </a:rPr>
              <a:t>rosemarychisom375.github.io/Skill2Bridge-Demo</a:t>
            </a:r>
            <a:r>
              <a:rPr lang="en-US" sz="2000" dirty="0" smtClean="0">
                <a:hlinkClick r:id="rId9"/>
              </a:rPr>
              <a:t>/</a:t>
            </a:r>
            <a:endParaRPr lang="en-US" sz="2000" dirty="0" smtClean="0"/>
          </a:p>
          <a:p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19456"/>
            <a:ext cx="1645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200" b="1" dirty="0">
                <a:solidFill>
                  <a:schemeClr val="bg1"/>
                </a:solidFill>
              </a:rPr>
              <a:t>Feasibility of the Proposed Solution</a:t>
            </a:r>
            <a:endParaRPr lang="en-US" sz="5200" dirty="0"/>
          </a:p>
        </p:txBody>
      </p:sp>
      <p:sp>
        <p:nvSpPr>
          <p:cNvPr id="3" name="Card Practicality (tech and timeline)"/>
          <p:cNvSpPr/>
          <p:nvPr/>
        </p:nvSpPr>
        <p:spPr>
          <a:xfrm>
            <a:off x="914400" y="2194560"/>
            <a:ext cx="8046720" cy="7040880"/>
          </a:xfrm>
          <a:prstGeom prst="rect">
            <a:avLst/>
          </a:prstGeom>
          <a:solidFill>
            <a:schemeClr val="bg1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194560"/>
            <a:ext cx="146304" cy="70408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80160" y="2340864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chemeClr val="tx2"/>
                </a:solidFill>
              </a:rPr>
              <a:t>Practicality (tech and timeline)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926080"/>
            <a:ext cx="7498080" cy="6163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2600" dirty="0"/>
              <a:t>Phase 1 (Months 1-2): build website, content and </a:t>
            </a:r>
            <a:r>
              <a:rPr lang="en-US" sz="2600" dirty="0" smtClean="0"/>
              <a:t>brand.</a:t>
            </a:r>
            <a:endParaRPr lang="en-US" sz="2600" dirty="0"/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2600" dirty="0"/>
              <a:t>Phase 2 (Months 3-4): pilot with </a:t>
            </a:r>
            <a:r>
              <a:rPr lang="en-US" sz="2600" dirty="0" smtClean="0"/>
              <a:t>at least 30 final year students </a:t>
            </a:r>
            <a:r>
              <a:rPr lang="en-US" sz="2600" dirty="0"/>
              <a:t>in </a:t>
            </a:r>
            <a:r>
              <a:rPr lang="en-US" sz="2600" dirty="0" smtClean="0"/>
              <a:t>Enugu study center.</a:t>
            </a:r>
            <a:endParaRPr lang="en-US" sz="2600" dirty="0"/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2600" dirty="0"/>
              <a:t>Phase 3 (Months 5-6): refine, launch publicly, add paid </a:t>
            </a:r>
            <a:r>
              <a:rPr lang="en-US" sz="2600" dirty="0" smtClean="0"/>
              <a:t>services.</a:t>
            </a:r>
            <a:endParaRPr lang="en-US" sz="2600" dirty="0"/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2600" dirty="0"/>
              <a:t>Built on proven, low-cost tools (cloud hosting, free and open platforms)</a:t>
            </a:r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2600" dirty="0"/>
              <a:t>Founder skills in IT, networking, web development and </a:t>
            </a:r>
            <a:r>
              <a:rPr lang="en-US" sz="2600" dirty="0" smtClean="0"/>
              <a:t>AI.</a:t>
            </a:r>
            <a:endParaRPr lang="en-US" sz="2600" dirty="0"/>
          </a:p>
        </p:txBody>
      </p:sp>
      <p:sp>
        <p:nvSpPr>
          <p:cNvPr id="7" name="Card Implementation (team and partners)"/>
          <p:cNvSpPr/>
          <p:nvPr/>
        </p:nvSpPr>
        <p:spPr>
          <a:xfrm>
            <a:off x="9326880" y="2194560"/>
            <a:ext cx="8046720" cy="7040880"/>
          </a:xfrm>
          <a:prstGeom prst="rect">
            <a:avLst/>
          </a:prstGeom>
          <a:solidFill>
            <a:schemeClr val="bg1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0" y="2194560"/>
            <a:ext cx="146304" cy="704088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92640" y="2340864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chemeClr val="tx2"/>
                </a:solidFill>
              </a:rPr>
              <a:t>Implementation (team and partners)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9692640" y="2926080"/>
            <a:ext cx="7498080" cy="6163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2600" dirty="0"/>
              <a:t>Founder-led with technical and mentorship </a:t>
            </a:r>
            <a:r>
              <a:rPr lang="en-US" sz="2600" dirty="0" smtClean="0"/>
              <a:t>experience.</a:t>
            </a:r>
            <a:endParaRPr lang="en-US" sz="2600" dirty="0"/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2600" dirty="0"/>
              <a:t>Volunteer mentors and industry professionals</a:t>
            </a:r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2600" dirty="0"/>
              <a:t>Partners: study centres, polytechnics, tech hubs, youth NGOs</a:t>
            </a:r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2600" dirty="0"/>
              <a:t>Existing community </a:t>
            </a:r>
            <a:r>
              <a:rPr lang="en-US" sz="2600" dirty="0" smtClean="0"/>
              <a:t>outreach.</a:t>
            </a:r>
            <a:endParaRPr lang="en-US" sz="2600" dirty="0"/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2600" dirty="0"/>
              <a:t>Collaborations give access to learners at low acquisition </a:t>
            </a:r>
            <a:r>
              <a:rPr lang="en-US" sz="2600" dirty="0" smtClean="0"/>
              <a:t>cost.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642080" y="9656064"/>
            <a:ext cx="731520" cy="4572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pPr algn="l"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19456"/>
            <a:ext cx="1645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200" b="1" dirty="0">
                <a:solidFill>
                  <a:schemeClr val="bg1"/>
                </a:solidFill>
              </a:rPr>
              <a:t>SWOT Analysis</a:t>
            </a:r>
            <a:endParaRPr lang="en-US" sz="5200" dirty="0"/>
          </a:p>
        </p:txBody>
      </p:sp>
      <p:sp>
        <p:nvSpPr>
          <p:cNvPr id="3" name="Card Strengths"/>
          <p:cNvSpPr/>
          <p:nvPr/>
        </p:nvSpPr>
        <p:spPr>
          <a:xfrm>
            <a:off x="914400" y="2194560"/>
            <a:ext cx="3931920" cy="4297680"/>
          </a:xfrm>
          <a:prstGeom prst="rect">
            <a:avLst/>
          </a:prstGeom>
          <a:solidFill>
            <a:schemeClr val="bg1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194560"/>
            <a:ext cx="146304" cy="42976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80160" y="234086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chemeClr val="tx2"/>
                </a:solidFill>
              </a:rPr>
              <a:t>Strengths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926080"/>
            <a:ext cx="3383280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2600" dirty="0"/>
              <a:t>Practical, portfolio-first model</a:t>
            </a:r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2600" dirty="0"/>
              <a:t>Founder tech and training skills</a:t>
            </a:r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2600" dirty="0"/>
              <a:t>Low operating cost</a:t>
            </a:r>
          </a:p>
        </p:txBody>
      </p:sp>
      <p:sp>
        <p:nvSpPr>
          <p:cNvPr id="7" name="Card Weaknesses"/>
          <p:cNvSpPr/>
          <p:nvPr/>
        </p:nvSpPr>
        <p:spPr>
          <a:xfrm>
            <a:off x="5029200" y="2194560"/>
            <a:ext cx="3931920" cy="4297680"/>
          </a:xfrm>
          <a:prstGeom prst="rect">
            <a:avLst/>
          </a:prstGeom>
          <a:solidFill>
            <a:schemeClr val="bg1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0" y="2194560"/>
            <a:ext cx="146304" cy="429768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94960" y="234086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chemeClr val="tx2"/>
                </a:solidFill>
              </a:rPr>
              <a:t>Weaknesses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5394960" y="2926080"/>
            <a:ext cx="3383280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2600" dirty="0"/>
              <a:t>Limited start-up capital</a:t>
            </a:r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2600" dirty="0"/>
              <a:t>New brand, little awareness</a:t>
            </a:r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2600" dirty="0"/>
              <a:t>Dependence on internet access</a:t>
            </a:r>
          </a:p>
        </p:txBody>
      </p:sp>
      <p:sp>
        <p:nvSpPr>
          <p:cNvPr id="11" name="Card Opportunities"/>
          <p:cNvSpPr/>
          <p:nvPr/>
        </p:nvSpPr>
        <p:spPr>
          <a:xfrm>
            <a:off x="9326880" y="2194560"/>
            <a:ext cx="3931920" cy="4297680"/>
          </a:xfrm>
          <a:prstGeom prst="rect">
            <a:avLst/>
          </a:prstGeom>
          <a:solidFill>
            <a:schemeClr val="bg1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26880" y="2194560"/>
            <a:ext cx="146304" cy="429768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92640" y="234086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chemeClr val="tx2"/>
                </a:solidFill>
              </a:rPr>
              <a:t>Opportunities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9692640" y="2926080"/>
            <a:ext cx="3383280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2600" dirty="0"/>
              <a:t>Large youth unemployment</a:t>
            </a:r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2600" dirty="0"/>
              <a:t>Growing remote and AI jobs</a:t>
            </a:r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2600" dirty="0"/>
              <a:t>Partnerships and grants</a:t>
            </a:r>
          </a:p>
        </p:txBody>
      </p:sp>
      <p:sp>
        <p:nvSpPr>
          <p:cNvPr id="15" name="Card Threats"/>
          <p:cNvSpPr/>
          <p:nvPr/>
        </p:nvSpPr>
        <p:spPr>
          <a:xfrm>
            <a:off x="13441680" y="2194560"/>
            <a:ext cx="3931920" cy="4297680"/>
          </a:xfrm>
          <a:prstGeom prst="rect">
            <a:avLst/>
          </a:prstGeom>
          <a:solidFill>
            <a:schemeClr val="bg1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441680" y="2194560"/>
            <a:ext cx="146304" cy="429768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3807440" y="234086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chemeClr val="tx2"/>
                </a:solidFill>
              </a:rPr>
              <a:t>Threats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13807440" y="2926080"/>
            <a:ext cx="3383280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2600" dirty="0"/>
              <a:t>Free online </a:t>
            </a:r>
            <a:r>
              <a:rPr lang="en-US" sz="2600" dirty="0" smtClean="0"/>
              <a:t>courses.</a:t>
            </a:r>
            <a:endParaRPr lang="en-US" sz="2600" dirty="0"/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2600" dirty="0"/>
              <a:t>Data cost and power </a:t>
            </a:r>
            <a:r>
              <a:rPr lang="en-US" sz="2600" dirty="0" smtClean="0"/>
              <a:t>issues.</a:t>
            </a:r>
            <a:endParaRPr lang="en-US" sz="2600" dirty="0"/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2600" dirty="0"/>
              <a:t>Economic pressure on </a:t>
            </a:r>
            <a:r>
              <a:rPr lang="en-US" sz="2600" dirty="0" smtClean="0"/>
              <a:t>learners.</a:t>
            </a:r>
            <a:endParaRPr lang="en-US" sz="2600" dirty="0"/>
          </a:p>
        </p:txBody>
      </p:sp>
      <p:sp>
        <p:nvSpPr>
          <p:cNvPr id="19" name="Competitive advantage band"/>
          <p:cNvSpPr/>
          <p:nvPr/>
        </p:nvSpPr>
        <p:spPr>
          <a:xfrm>
            <a:off x="914400" y="6858000"/>
            <a:ext cx="16459200" cy="23774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280160" y="6949440"/>
            <a:ext cx="15727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chemeClr val="accent2"/>
                </a:solidFill>
              </a:rPr>
              <a:t>Competitive </a:t>
            </a:r>
            <a:r>
              <a:rPr lang="en-US" sz="3000" b="1" dirty="0" smtClean="0">
                <a:solidFill>
                  <a:schemeClr val="accent2"/>
                </a:solidFill>
              </a:rPr>
              <a:t>Edge</a:t>
            </a:r>
            <a:endParaRPr lang="en-US" sz="3000" dirty="0"/>
          </a:p>
          <a:p>
            <a:r>
              <a:rPr lang="en-US" sz="2800" dirty="0" smtClean="0">
                <a:solidFill>
                  <a:schemeClr val="bg1"/>
                </a:solidFill>
              </a:rPr>
              <a:t>Combining low operational expenses with practical, technical expertise to deliver highly relevant training.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642080" y="9656064"/>
            <a:ext cx="731520" cy="4572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pPr algn="l"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19456"/>
            <a:ext cx="1645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200" b="1" dirty="0">
                <a:solidFill>
                  <a:schemeClr val="bg1"/>
                </a:solidFill>
              </a:rPr>
              <a:t>Key Activities</a:t>
            </a:r>
            <a:endParaRPr lang="en-US" sz="5200" dirty="0"/>
          </a:p>
        </p:txBody>
      </p:sp>
      <p:sp>
        <p:nvSpPr>
          <p:cNvPr id="3" name="Card Value Delivery"/>
          <p:cNvSpPr/>
          <p:nvPr/>
        </p:nvSpPr>
        <p:spPr>
          <a:xfrm>
            <a:off x="914400" y="2194560"/>
            <a:ext cx="5303520" cy="4549140"/>
          </a:xfrm>
          <a:prstGeom prst="rect">
            <a:avLst/>
          </a:prstGeom>
          <a:solidFill>
            <a:schemeClr val="bg1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194560"/>
            <a:ext cx="146304" cy="45491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80160" y="2340863"/>
            <a:ext cx="4754880" cy="3544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chemeClr val="tx2"/>
                </a:solidFill>
              </a:rPr>
              <a:t>Value Delivery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926080"/>
            <a:ext cx="4754880" cy="381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2600" dirty="0"/>
              <a:t>Digital and AI skills training</a:t>
            </a:r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2600" dirty="0"/>
              <a:t>Career guidance and CV </a:t>
            </a:r>
            <a:r>
              <a:rPr lang="en-US" sz="2600" dirty="0" smtClean="0"/>
              <a:t>optimization</a:t>
            </a:r>
            <a:endParaRPr lang="en-US" sz="2600" dirty="0"/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2600" dirty="0"/>
              <a:t>Mentorship matching</a:t>
            </a:r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2600" dirty="0"/>
              <a:t>Real-world projects</a:t>
            </a:r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2600" dirty="0"/>
              <a:t>Portfolio development</a:t>
            </a:r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2600" dirty="0"/>
              <a:t>Entrepreneurship coaching</a:t>
            </a:r>
          </a:p>
        </p:txBody>
      </p:sp>
      <p:sp>
        <p:nvSpPr>
          <p:cNvPr id="7" name="Card Client Outreach"/>
          <p:cNvSpPr/>
          <p:nvPr/>
        </p:nvSpPr>
        <p:spPr>
          <a:xfrm>
            <a:off x="6492240" y="2194559"/>
            <a:ext cx="5303520" cy="4535483"/>
          </a:xfrm>
          <a:prstGeom prst="rect">
            <a:avLst/>
          </a:prstGeom>
          <a:solidFill>
            <a:schemeClr val="bg1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92240" y="2194559"/>
            <a:ext cx="146304" cy="4535483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0" y="2340864"/>
            <a:ext cx="4754880" cy="353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chemeClr val="tx2"/>
                </a:solidFill>
              </a:rPr>
              <a:t>Client Outreach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6858000" y="2926080"/>
            <a:ext cx="4754880" cy="397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2600" dirty="0"/>
              <a:t>Campus and study-centre talks</a:t>
            </a:r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2600" dirty="0"/>
              <a:t>Social media and WhatsApp communities</a:t>
            </a:r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2600" dirty="0"/>
              <a:t>Partnerships with institutions and NGOs</a:t>
            </a:r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2600" dirty="0"/>
              <a:t>Referral and alumni network</a:t>
            </a:r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2600" dirty="0"/>
              <a:t>Free webinars as entry point</a:t>
            </a:r>
          </a:p>
        </p:txBody>
      </p:sp>
      <p:sp>
        <p:nvSpPr>
          <p:cNvPr id="11" name="Card Revenue Generation"/>
          <p:cNvSpPr/>
          <p:nvPr/>
        </p:nvSpPr>
        <p:spPr>
          <a:xfrm>
            <a:off x="12070080" y="2194560"/>
            <a:ext cx="5303520" cy="4472940"/>
          </a:xfrm>
          <a:prstGeom prst="rect">
            <a:avLst/>
          </a:prstGeom>
          <a:solidFill>
            <a:schemeClr val="bg1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070080" y="2194560"/>
            <a:ext cx="146304" cy="447294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2435840" y="2340864"/>
            <a:ext cx="4754880" cy="348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chemeClr val="tx2"/>
                </a:solidFill>
              </a:rPr>
              <a:t>Revenue Generation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12435840" y="2926079"/>
            <a:ext cx="4754880" cy="391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2600" dirty="0"/>
              <a:t>Pay-per-service student fees</a:t>
            </a:r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2600" dirty="0"/>
              <a:t>Institutional cohort contracts</a:t>
            </a:r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2600" dirty="0"/>
              <a:t>Portfolio and freelance project commissions</a:t>
            </a:r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2600" dirty="0"/>
              <a:t>Sponsored training and grants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642080" y="9656064"/>
            <a:ext cx="731520" cy="4572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pPr algn="l"/>
              <a:t>6</a:t>
            </a:fld>
            <a:endParaRPr lang="en-US"/>
          </a:p>
        </p:txBody>
      </p:sp>
      <p:sp>
        <p:nvSpPr>
          <p:cNvPr id="18" name="Competitive advantage band"/>
          <p:cNvSpPr/>
          <p:nvPr/>
        </p:nvSpPr>
        <p:spPr>
          <a:xfrm>
            <a:off x="838200" y="7109460"/>
            <a:ext cx="16459200" cy="23774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9" name="Text 18"/>
          <p:cNvSpPr txBox="1"/>
          <p:nvPr/>
        </p:nvSpPr>
        <p:spPr>
          <a:xfrm>
            <a:off x="1203960" y="7200900"/>
            <a:ext cx="15727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chemeClr val="accent2"/>
                </a:solidFill>
              </a:rPr>
              <a:t>Competitive Advantage  </a:t>
            </a:r>
            <a:endParaRPr lang="en-US" sz="2800" dirty="0"/>
          </a:p>
          <a:p>
            <a:r>
              <a:rPr lang="en-US" sz="2400" dirty="0">
                <a:solidFill>
                  <a:schemeClr val="bg1"/>
                </a:solidFill>
              </a:rPr>
              <a:t>Local, affordable, mentor-led and </a:t>
            </a:r>
            <a:r>
              <a:rPr lang="en-US" sz="2400" dirty="0" smtClean="0">
                <a:solidFill>
                  <a:schemeClr val="bg1"/>
                </a:solidFill>
              </a:rPr>
              <a:t>outcome focused</a:t>
            </a:r>
            <a:r>
              <a:rPr lang="en-US" sz="2400" dirty="0">
                <a:solidFill>
                  <a:schemeClr val="bg1"/>
                </a:solidFill>
              </a:rPr>
              <a:t>: learners leave with real projects, a portfolio and a path to income, which most generic online courses do not provide.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19456"/>
            <a:ext cx="1645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200" b="1" dirty="0">
                <a:solidFill>
                  <a:schemeClr val="bg1"/>
                </a:solidFill>
              </a:rPr>
              <a:t>Financial Analysis</a:t>
            </a:r>
            <a:endParaRPr lang="en-US" sz="5200" dirty="0"/>
          </a:p>
        </p:txBody>
      </p:sp>
      <p:sp>
        <p:nvSpPr>
          <p:cNvPr id="3" name="Card 1. Monthly Costs (about N250,000)"/>
          <p:cNvSpPr/>
          <p:nvPr/>
        </p:nvSpPr>
        <p:spPr>
          <a:xfrm>
            <a:off x="914400" y="2194560"/>
            <a:ext cx="5303520" cy="3566160"/>
          </a:xfrm>
          <a:prstGeom prst="rect">
            <a:avLst/>
          </a:prstGeom>
          <a:solidFill>
            <a:schemeClr val="bg1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194560"/>
            <a:ext cx="146304" cy="356616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80160" y="234086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chemeClr val="tx2"/>
                </a:solidFill>
              </a:rPr>
              <a:t>1. Monthly Costs (about N250,000)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926080"/>
            <a:ext cx="4754880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2400" dirty="0"/>
              <a:t>Mentors and facilitators: N80,000</a:t>
            </a:r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2400" dirty="0"/>
              <a:t>Data, hosting, tools: N60,000</a:t>
            </a:r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2400" dirty="0"/>
              <a:t>Marketing/outreach: N50,000</a:t>
            </a:r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2400" dirty="0"/>
              <a:t>Operations/misc: N60,000</a:t>
            </a:r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579011935"/>
              </p:ext>
            </p:extLst>
          </p:nvPr>
        </p:nvGraphicFramePr>
        <p:xfrm>
          <a:off x="6492240" y="2743200"/>
          <a:ext cx="5303520" cy="3602736"/>
        </p:xfrm>
        <a:graphic>
          <a:graphicData uri="http://schemas.openxmlformats.org/drawingml/2006/table">
            <a:tbl>
              <a:tblPr/>
              <a:tblGrid>
                <a:gridCol w="3474720"/>
                <a:gridCol w="1828800"/>
              </a:tblGrid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Service</a:t>
                      </a:r>
                      <a:endParaRPr lang="en-US" sz="2000" dirty="0"/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Price (N)</a:t>
                      </a:r>
                      <a:endParaRPr lang="en-US" sz="2000" dirty="0"/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Career guidance session</a:t>
                      </a:r>
                      <a:endParaRPr lang="en-US" sz="2200" dirty="0"/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3,000</a:t>
                      </a:r>
                      <a:endParaRPr lang="en-US" sz="2000" dirty="0"/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Mentorship (monthly)</a:t>
                      </a:r>
                      <a:endParaRPr lang="en-US" sz="2200" dirty="0"/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5,000</a:t>
                      </a:r>
                      <a:endParaRPr lang="en-US" sz="2000" dirty="0"/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Portfolio development</a:t>
                      </a:r>
                      <a:endParaRPr lang="en-US" sz="2200" dirty="0"/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10,000</a:t>
                      </a:r>
                      <a:endParaRPr lang="en-US" sz="2000" dirty="0"/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Digital skills bootcamp</a:t>
                      </a:r>
                      <a:endParaRPr lang="en-US" sz="2200" dirty="0"/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15,000</a:t>
                      </a:r>
                      <a:endParaRPr lang="en-US" sz="2000" dirty="0"/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Entrepreneurship support</a:t>
                      </a:r>
                      <a:endParaRPr lang="en-US" sz="2200" dirty="0"/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20,000</a:t>
                      </a:r>
                      <a:endParaRPr lang="en-US" sz="2000" dirty="0"/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Institution cohort</a:t>
                      </a:r>
                      <a:endParaRPr lang="en-US" sz="2200" dirty="0"/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150,000</a:t>
                      </a:r>
                      <a:endParaRPr lang="en-US" sz="2000" dirty="0"/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7" name="Text 5"/>
          <p:cNvSpPr txBox="1"/>
          <p:nvPr/>
        </p:nvSpPr>
        <p:spPr>
          <a:xfrm>
            <a:off x="6492240" y="21945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chemeClr val="tx2"/>
                </a:solidFill>
              </a:rPr>
              <a:t>2. Pricing (per service)</a:t>
            </a:r>
            <a:endParaRPr lang="en-US" sz="2400" dirty="0"/>
          </a:p>
        </p:txBody>
      </p:sp>
      <p:sp>
        <p:nvSpPr>
          <p:cNvPr id="9" name="Card 3. Monthly Output"/>
          <p:cNvSpPr/>
          <p:nvPr/>
        </p:nvSpPr>
        <p:spPr>
          <a:xfrm>
            <a:off x="12070080" y="2194560"/>
            <a:ext cx="5303520" cy="3566160"/>
          </a:xfrm>
          <a:prstGeom prst="rect">
            <a:avLst/>
          </a:prstGeom>
          <a:solidFill>
            <a:schemeClr val="bg1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070080" y="2194560"/>
            <a:ext cx="146304" cy="35661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2435840" y="234086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chemeClr val="tx2"/>
                </a:solidFill>
              </a:rPr>
              <a:t>3. Monthly Output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12435840" y="2926080"/>
            <a:ext cx="4754880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2400" dirty="0"/>
              <a:t>40 guidance sessions</a:t>
            </a:r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2400" dirty="0"/>
              <a:t>20 mentees, 12 portfolios</a:t>
            </a:r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2400" dirty="0"/>
              <a:t>8 bootcamp seats</a:t>
            </a:r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2400" dirty="0"/>
              <a:t>1 entrepreneurship package</a:t>
            </a:r>
          </a:p>
        </p:txBody>
      </p:sp>
      <p:sp>
        <p:nvSpPr>
          <p:cNvPr id="13" name="KPI 4. Income per month"/>
          <p:cNvSpPr/>
          <p:nvPr/>
        </p:nvSpPr>
        <p:spPr>
          <a:xfrm>
            <a:off x="914400" y="6400800"/>
            <a:ext cx="5303520" cy="28346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14400" y="6400800"/>
            <a:ext cx="5303520" cy="2834640"/>
          </a:xfrm>
          <a:prstGeom prst="rect">
            <a:avLst/>
          </a:prstGeom>
          <a:noFill/>
          <a:ln/>
        </p:spPr>
        <p:txBody>
          <a:bodyPr wrap="square" lIns="182880" tIns="91440" rIns="182880" bIns="91440" rtlCol="0" anchor="ctr"/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N480,000</a:t>
            </a:r>
            <a:endParaRPr lang="en-US" sz="4800" dirty="0"/>
          </a:p>
          <a:p>
            <a:pPr algn="ctr"/>
            <a:r>
              <a:rPr lang="en-US" sz="2200" dirty="0">
                <a:solidFill>
                  <a:schemeClr val="bg1"/>
                </a:solidFill>
              </a:rPr>
              <a:t>4. Income per month</a:t>
            </a:r>
            <a:endParaRPr lang="en-US" sz="4800" dirty="0"/>
          </a:p>
        </p:txBody>
      </p:sp>
      <p:sp>
        <p:nvSpPr>
          <p:cNvPr id="15" name="KPI Gross profit per month"/>
          <p:cNvSpPr/>
          <p:nvPr/>
        </p:nvSpPr>
        <p:spPr>
          <a:xfrm>
            <a:off x="6492240" y="6400800"/>
            <a:ext cx="5303520" cy="28346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92240" y="6400800"/>
            <a:ext cx="5303520" cy="2834640"/>
          </a:xfrm>
          <a:prstGeom prst="rect">
            <a:avLst/>
          </a:prstGeom>
          <a:noFill/>
          <a:ln/>
        </p:spPr>
        <p:txBody>
          <a:bodyPr wrap="square" lIns="182880" tIns="91440" rIns="182880" bIns="91440" rtlCol="0" anchor="ctr"/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N230,000</a:t>
            </a:r>
            <a:endParaRPr lang="en-US" sz="4800" dirty="0"/>
          </a:p>
          <a:p>
            <a:pPr algn="ctr"/>
            <a:r>
              <a:rPr lang="en-US" sz="2200" dirty="0">
                <a:solidFill>
                  <a:schemeClr val="bg1"/>
                </a:solidFill>
              </a:rPr>
              <a:t>Gross profit per month</a:t>
            </a:r>
            <a:endParaRPr lang="en-US" sz="4800" dirty="0"/>
          </a:p>
        </p:txBody>
      </p:sp>
      <p:sp>
        <p:nvSpPr>
          <p:cNvPr id="17" name="KPI 5. Gross margin"/>
          <p:cNvSpPr/>
          <p:nvPr/>
        </p:nvSpPr>
        <p:spPr>
          <a:xfrm>
            <a:off x="12070080" y="6400800"/>
            <a:ext cx="5303520" cy="283464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2070080" y="6400800"/>
            <a:ext cx="5303520" cy="2834640"/>
          </a:xfrm>
          <a:prstGeom prst="rect">
            <a:avLst/>
          </a:prstGeom>
          <a:noFill/>
          <a:ln/>
        </p:spPr>
        <p:txBody>
          <a:bodyPr wrap="square" lIns="182880" tIns="91440" rIns="182880" bIns="91440" rtlCol="0" anchor="ctr"/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about 48%</a:t>
            </a:r>
            <a:endParaRPr lang="en-US" sz="4800" dirty="0"/>
          </a:p>
          <a:p>
            <a:pPr algn="ctr"/>
            <a:r>
              <a:rPr lang="en-US" sz="2200" dirty="0">
                <a:solidFill>
                  <a:schemeClr val="bg1"/>
                </a:solidFill>
              </a:rPr>
              <a:t>5. Gross margin</a:t>
            </a:r>
            <a:endParaRPr lang="en-US" sz="4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642080" y="9656064"/>
            <a:ext cx="731520" cy="4572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pPr algn="l"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19456"/>
            <a:ext cx="1645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200" b="1" dirty="0">
                <a:solidFill>
                  <a:schemeClr val="bg1"/>
                </a:solidFill>
              </a:rPr>
              <a:t>Potential Impact &amp; Sustainability</a:t>
            </a:r>
            <a:endParaRPr lang="en-US" sz="5200" dirty="0"/>
          </a:p>
        </p:txBody>
      </p:sp>
      <p:sp>
        <p:nvSpPr>
          <p:cNvPr id="3" name="Card Long-term Societal Value"/>
          <p:cNvSpPr/>
          <p:nvPr/>
        </p:nvSpPr>
        <p:spPr>
          <a:xfrm>
            <a:off x="914400" y="2194560"/>
            <a:ext cx="8046720" cy="7040880"/>
          </a:xfrm>
          <a:prstGeom prst="rect">
            <a:avLst/>
          </a:prstGeom>
          <a:solidFill>
            <a:schemeClr val="bg1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194560"/>
            <a:ext cx="146304" cy="70408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80160" y="2340864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chemeClr val="tx2"/>
                </a:solidFill>
              </a:rPr>
              <a:t>Long-term Societal Value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926080"/>
            <a:ext cx="7498080" cy="6163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2600" dirty="0"/>
              <a:t>Employable, </a:t>
            </a:r>
            <a:r>
              <a:rPr lang="en-US" sz="2600" dirty="0" smtClean="0"/>
              <a:t>income earning </a:t>
            </a:r>
            <a:r>
              <a:rPr lang="en-US" sz="2600" dirty="0"/>
              <a:t>youth reduce unemployment and </a:t>
            </a:r>
            <a:r>
              <a:rPr lang="en-US" sz="2600" dirty="0" smtClean="0"/>
              <a:t>poverty.</a:t>
            </a:r>
            <a:endParaRPr lang="en-US" sz="2600" dirty="0"/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2600" dirty="0"/>
              <a:t>Wider digital and AI literacy in underserved </a:t>
            </a:r>
            <a:r>
              <a:rPr lang="en-US" sz="2600" dirty="0" smtClean="0"/>
              <a:t>communities.</a:t>
            </a:r>
            <a:endParaRPr lang="en-US" sz="2600" dirty="0"/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2600" dirty="0"/>
              <a:t>More young entrepreneurs creating jobs</a:t>
            </a:r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2600" dirty="0"/>
              <a:t>Advances SDG 4, 8 and </a:t>
            </a:r>
            <a:r>
              <a:rPr lang="en-US" sz="2600" dirty="0" smtClean="0"/>
              <a:t>10.</a:t>
            </a:r>
            <a:endParaRPr lang="en-US" sz="2600" dirty="0"/>
          </a:p>
        </p:txBody>
      </p:sp>
      <p:sp>
        <p:nvSpPr>
          <p:cNvPr id="7" name="Card Business Growth Potential"/>
          <p:cNvSpPr/>
          <p:nvPr/>
        </p:nvSpPr>
        <p:spPr>
          <a:xfrm>
            <a:off x="9326880" y="2194560"/>
            <a:ext cx="8046720" cy="7040880"/>
          </a:xfrm>
          <a:prstGeom prst="rect">
            <a:avLst/>
          </a:prstGeom>
          <a:solidFill>
            <a:schemeClr val="bg1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0" y="2194560"/>
            <a:ext cx="146304" cy="704088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92640" y="2340864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chemeClr val="tx2"/>
                </a:solidFill>
              </a:rPr>
              <a:t>Business Growth Potential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9692640" y="2926080"/>
            <a:ext cx="7498080" cy="6163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2600" dirty="0"/>
              <a:t>Year 1: scale to </a:t>
            </a:r>
            <a:r>
              <a:rPr lang="en-US" sz="2600" dirty="0" smtClean="0"/>
              <a:t>500</a:t>
            </a:r>
            <a:r>
              <a:rPr lang="en-US" sz="2600" dirty="0"/>
              <a:t>+ learners in </a:t>
            </a:r>
            <a:r>
              <a:rPr lang="en-US" sz="2600" dirty="0" smtClean="0"/>
              <a:t>Enugu.</a:t>
            </a:r>
            <a:endParaRPr lang="en-US" sz="2600" dirty="0"/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2600" dirty="0"/>
              <a:t>Year 2: expand to other states via partner centres</a:t>
            </a:r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2600" dirty="0"/>
              <a:t>Year 3: add certification, job-matching and corporate </a:t>
            </a:r>
            <a:r>
              <a:rPr lang="en-US" sz="2600" dirty="0" smtClean="0"/>
              <a:t>training.</a:t>
            </a:r>
            <a:endParaRPr lang="en-US" sz="2600" dirty="0"/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2600" dirty="0"/>
              <a:t>Diversified revenue keeps the model </a:t>
            </a:r>
            <a:r>
              <a:rPr lang="en-US" sz="2600" dirty="0" smtClean="0"/>
              <a:t>self-sustaining.</a:t>
            </a:r>
            <a:endParaRPr lang="en-US" sz="2600" dirty="0"/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2600" dirty="0"/>
              <a:t>Alumni become mentors, lowering costs as it </a:t>
            </a:r>
            <a:r>
              <a:rPr lang="en-US" sz="2600" dirty="0" smtClean="0"/>
              <a:t>grows.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642080" y="9656064"/>
            <a:ext cx="731520" cy="4572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pPr algn="l"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12679</TotalTime>
  <Words>835</Words>
  <Application>Microsoft Office PowerPoint</Application>
  <PresentationFormat>Custom</PresentationFormat>
  <Paragraphs>158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Arial</vt:lpstr>
      <vt:lpstr>Calibri</vt:lpstr>
      <vt:lpstr>Arial Black</vt:lpstr>
      <vt:lpstr>Montserrat Light Bold</vt:lpstr>
      <vt:lpstr>Montserrat Light</vt:lpstr>
      <vt:lpstr>Maven Pro Bold</vt:lpstr>
      <vt:lpstr>Open Sauce</vt:lpstr>
      <vt:lpstr>Arial Rounded MT Bold</vt:lpstr>
      <vt:lpstr>Codec Pro ExtraBold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</dc:title>
  <dc:creator>DR. AMUSA J.O</dc:creator>
  <cp:lastModifiedBy>Rose</cp:lastModifiedBy>
  <cp:revision>17</cp:revision>
  <dcterms:created xsi:type="dcterms:W3CDTF">2006-08-16T00:00:00Z</dcterms:created>
  <dcterms:modified xsi:type="dcterms:W3CDTF">2026-10-06T20:51:18Z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8EAA45D7D82542C893E70DD9DDE9C5A2_13</vt:lpwstr>
  </property>
  <property fmtid="{D5CDD505-2E9C-101B-9397-08002B2CF9AE}" pid="3" name="KSOProductBuildVer">
    <vt:lpwstr>1033-12.2.0.20326</vt:lpwstr>
  </property>
</Properties>
</file>